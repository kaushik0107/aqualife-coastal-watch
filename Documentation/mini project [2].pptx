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17"/>
  </p:notesMasterIdLst>
  <p:sldIdLst>
    <p:sldId id="258" r:id="rId3"/>
    <p:sldId id="259" r:id="rId4"/>
    <p:sldId id="260" r:id="rId5"/>
    <p:sldId id="261" r:id="rId6"/>
    <p:sldId id="262" r:id="rId7"/>
    <p:sldId id="263" r:id="rId8"/>
    <p:sldId id="257" r:id="rId9"/>
    <p:sldId id="265" r:id="rId10"/>
    <p:sldId id="266" r:id="rId11"/>
    <p:sldId id="267" r:id="rId12"/>
    <p:sldId id="268" r:id="rId13"/>
    <p:sldId id="256" r:id="rId14"/>
    <p:sldId id="269" r:id="rId15"/>
    <p:sldId id="270" r:id="rId16"/>
  </p:sldIdLst>
  <p:sldSz cx="14630400" cy="8229600"/>
  <p:notesSz cx="8229600" cy="14630400"/>
  <p:embeddedFontLst>
    <p:embeddedFont>
      <p:font typeface="Roboto" panose="02000000000000000000" pitchFamily="2" charset="0"/>
      <p:regular r:id="rId18"/>
      <p:bold r:id="rId19"/>
      <p:italic r:id="rId20"/>
      <p:boldItalic r:id="rId21"/>
    </p:embeddedFont>
    <p:embeddedFont>
      <p:font typeface="Roboto Slab" pitchFamily="2" charset="0"/>
      <p:regular r:id="rId22"/>
      <p:bold r:id="rId23"/>
    </p:embeddedFont>
    <p:embeddedFont>
      <p:font typeface="Roboto Slab Light"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AED895-6028-4AC8-A17B-F62E19C81A14}" v="1" dt="2026-03-12T18:06:40.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9603-2C24-5E62-57F9-A7DBC05C2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A286D-B252-A7F3-CD8C-2BC0EE731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32746-F916-0F96-0DA6-3F4D888E82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40C6F-ED2C-8780-3811-2CDA0F5E311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82308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EBCB-5F88-AEF5-113C-F79BA50FF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CFB32-8EBD-E534-555E-F54274B52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C87A5-1C3D-BBAD-EA52-7920366709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7440AE-2F62-19BA-BE0D-7D807BEB95F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60065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1A5A8-2A89-A5E9-8B9C-6187D8EF2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49105-3219-D984-7DE4-2FD621E86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DCCB1-766B-1CE7-B1D1-29D84B4D5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D32727-BF4A-725B-58CE-6622842F3E8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98631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601C-4A20-4E50-12DB-66ACC6B9C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0D569-47F9-CA07-547A-188C6A3B2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2D72E-EBED-2DC6-6651-43E35C010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AEEB6-8D15-E03A-85BA-3F6D9EB2780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73994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14007" y="3036155"/>
            <a:ext cx="12602385" cy="1639754"/>
          </a:xfrm>
          <a:prstGeom prst="rect">
            <a:avLst/>
          </a:prstGeom>
          <a:noFill/>
          <a:ln/>
        </p:spPr>
        <p:txBody>
          <a:bodyPr wrap="none" lIns="0" tIns="0" rIns="0" bIns="0" rtlCol="0" anchor="t"/>
          <a:lstStyle/>
          <a:p>
            <a:pPr algn="ctr">
              <a:lnSpc>
                <a:spcPts val="5550"/>
              </a:lnSpc>
            </a:pPr>
            <a:r>
              <a:rPr lang="en-US" sz="5400" b="1" dirty="0">
                <a:solidFill>
                  <a:schemeClr val="accent1"/>
                </a:solidFill>
                <a:latin typeface="Roboto Slab" pitchFamily="2" charset="0"/>
                <a:ea typeface="Roboto Slab" pitchFamily="2" charset="0"/>
                <a:cs typeface="Roboto Slab" pitchFamily="2" charset="0"/>
              </a:rPr>
              <a:t>AQUALIFE COASTAL WATCH</a:t>
            </a:r>
          </a:p>
          <a:p>
            <a:pPr algn="ctr">
              <a:lnSpc>
                <a:spcPts val="5550"/>
              </a:lnSpc>
            </a:pPr>
            <a:endParaRPr lang="en-US" sz="5400" b="1" dirty="0">
              <a:solidFill>
                <a:schemeClr val="accent1"/>
              </a:solidFill>
              <a:latin typeface="Roboto Slab" pitchFamily="2" charset="0"/>
              <a:ea typeface="Roboto Slab" pitchFamily="2" charset="0"/>
              <a:cs typeface="Roboto Slab" pitchFamily="2" charset="0"/>
            </a:endParaRPr>
          </a:p>
        </p:txBody>
      </p:sp>
      <p:sp>
        <p:nvSpPr>
          <p:cNvPr id="6" name="TextBox 5">
            <a:extLst>
              <a:ext uri="{FF2B5EF4-FFF2-40B4-BE49-F238E27FC236}">
                <a16:creationId xmlns:a16="http://schemas.microsoft.com/office/drawing/2014/main" id="{8D3E18F5-0EA1-590F-87DD-3ADEF8F12F26}"/>
              </a:ext>
            </a:extLst>
          </p:cNvPr>
          <p:cNvSpPr txBox="1"/>
          <p:nvPr/>
        </p:nvSpPr>
        <p:spPr>
          <a:xfrm>
            <a:off x="1943100" y="171442"/>
            <a:ext cx="10744200"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  INTERNATIONAL INSITITUTE OF MEDICAL SCIENCE AND TECHNOLOGY              </a:t>
            </a:r>
          </a:p>
        </p:txBody>
      </p:sp>
      <p:pic>
        <p:nvPicPr>
          <p:cNvPr id="5" name="Picture 4" descr="IIMSTC | Bangalore">
            <a:extLst>
              <a:ext uri="{FF2B5EF4-FFF2-40B4-BE49-F238E27FC236}">
                <a16:creationId xmlns:a16="http://schemas.microsoft.com/office/drawing/2014/main" id="{1AE0719D-46A8-B986-80E5-B2B6DF4ED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7" y="114301"/>
            <a:ext cx="2047966" cy="14547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1B69BFF-21DE-CC32-2FF7-62F935D68289}"/>
              </a:ext>
            </a:extLst>
          </p:cNvPr>
          <p:cNvSpPr txBox="1"/>
          <p:nvPr/>
        </p:nvSpPr>
        <p:spPr>
          <a:xfrm flipH="1">
            <a:off x="2358738" y="586940"/>
            <a:ext cx="1032856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Indian Social Institute, 24, Benson Rd, </a:t>
            </a:r>
            <a:r>
              <a:rPr lang="en-US" dirty="0" err="1">
                <a:latin typeface="Times New Roman" panose="02020603050405020304" pitchFamily="18" charset="0"/>
                <a:cs typeface="Times New Roman" panose="02020603050405020304" pitchFamily="18" charset="0"/>
              </a:rPr>
              <a:t>Byadarahalli</a:t>
            </a:r>
            <a:r>
              <a:rPr lang="en-US" dirty="0">
                <a:latin typeface="Times New Roman" panose="02020603050405020304" pitchFamily="18" charset="0"/>
                <a:cs typeface="Times New Roman" panose="02020603050405020304" pitchFamily="18" charset="0"/>
              </a:rPr>
              <a:t>, Benson Town, Bengaluru, Karnataka 560046</a:t>
            </a:r>
            <a:endParaRPr lang="en-IN" dirty="0"/>
          </a:p>
        </p:txBody>
      </p:sp>
      <p:sp>
        <p:nvSpPr>
          <p:cNvPr id="9" name="TextBox 8">
            <a:extLst>
              <a:ext uri="{FF2B5EF4-FFF2-40B4-BE49-F238E27FC236}">
                <a16:creationId xmlns:a16="http://schemas.microsoft.com/office/drawing/2014/main" id="{064C93B4-8B5A-324F-4726-01BB5FF4D524}"/>
              </a:ext>
            </a:extLst>
          </p:cNvPr>
          <p:cNvSpPr txBox="1"/>
          <p:nvPr/>
        </p:nvSpPr>
        <p:spPr>
          <a:xfrm>
            <a:off x="5838512" y="1602177"/>
            <a:ext cx="2953373" cy="707886"/>
          </a:xfrm>
          <a:prstGeom prst="rect">
            <a:avLst/>
          </a:prstGeom>
          <a:noFill/>
        </p:spPr>
        <p:txBody>
          <a:bodyPr wrap="none" rtlCol="0">
            <a:sp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Mini Project</a:t>
            </a:r>
          </a:p>
        </p:txBody>
      </p:sp>
      <p:sp>
        <p:nvSpPr>
          <p:cNvPr id="10" name="TextBox 9">
            <a:extLst>
              <a:ext uri="{FF2B5EF4-FFF2-40B4-BE49-F238E27FC236}">
                <a16:creationId xmlns:a16="http://schemas.microsoft.com/office/drawing/2014/main" id="{F1757693-203A-B119-62C4-5862090C709A}"/>
              </a:ext>
            </a:extLst>
          </p:cNvPr>
          <p:cNvSpPr txBox="1"/>
          <p:nvPr/>
        </p:nvSpPr>
        <p:spPr>
          <a:xfrm>
            <a:off x="264838" y="5704608"/>
            <a:ext cx="3818609"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Presented by:</a:t>
            </a:r>
            <a:r>
              <a:rPr lang="en-US" sz="2800" b="1" dirty="0">
                <a:solidFill>
                  <a:schemeClr val="accent1"/>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cohort 05</a:t>
            </a:r>
          </a:p>
        </p:txBody>
      </p:sp>
      <p:sp>
        <p:nvSpPr>
          <p:cNvPr id="11" name="Rectangle 10">
            <a:extLst>
              <a:ext uri="{FF2B5EF4-FFF2-40B4-BE49-F238E27FC236}">
                <a16:creationId xmlns:a16="http://schemas.microsoft.com/office/drawing/2014/main" id="{4F3D5B34-9352-9B48-DC33-8789352582F8}"/>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233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Introduction</a:t>
            </a:r>
            <a:endParaRPr lang="en-US" sz="4450" dirty="0"/>
          </a:p>
        </p:txBody>
      </p:sp>
      <p:sp>
        <p:nvSpPr>
          <p:cNvPr id="8" name="TextBox 7">
            <a:extLst>
              <a:ext uri="{FF2B5EF4-FFF2-40B4-BE49-F238E27FC236}">
                <a16:creationId xmlns:a16="http://schemas.microsoft.com/office/drawing/2014/main" id="{A3E2AC6E-4FF4-0221-4497-32CC9F58E23C}"/>
              </a:ext>
            </a:extLst>
          </p:cNvPr>
          <p:cNvSpPr txBox="1"/>
          <p:nvPr/>
        </p:nvSpPr>
        <p:spPr>
          <a:xfrm>
            <a:off x="793790" y="2221974"/>
            <a:ext cx="13005337" cy="3785652"/>
          </a:xfrm>
          <a:prstGeom prst="rect">
            <a:avLst/>
          </a:prstGeom>
          <a:noFill/>
        </p:spPr>
        <p:txBody>
          <a:bodyPr wrap="square" rtlCol="0">
            <a:spAutoFit/>
          </a:bodyPr>
          <a:lstStyle/>
          <a:p>
            <a:r>
              <a:rPr lang="en-US" sz="2400" dirty="0">
                <a:latin typeface="Roboto" panose="02000000000000000000" pitchFamily="2" charset="0"/>
                <a:ea typeface="Roboto" panose="02000000000000000000" pitchFamily="2" charset="0"/>
                <a:cs typeface="Roboto" panose="02000000000000000000" pitchFamily="2" charset="0"/>
              </a:rPr>
              <a:t>Oceans and coastal ecosystems play a vital role in maintaining biodiversity and supporting marine life. However, increasing coastal pollution, marine debris, and human activities are causing serious threats to marine habitats and endangered species. Monitoring these environmental issues is challenging because traditional methods rely on limited surveys and lack real-time data collection.</a:t>
            </a:r>
          </a:p>
          <a:p>
            <a:r>
              <a:rPr lang="en-US" sz="2400" dirty="0">
                <a:latin typeface="Roboto" panose="02000000000000000000" pitchFamily="2" charset="0"/>
                <a:ea typeface="Roboto" panose="02000000000000000000" pitchFamily="2" charset="0"/>
                <a:cs typeface="Roboto" panose="02000000000000000000" pitchFamily="2" charset="0"/>
              </a:rPr>
              <a:t>The </a:t>
            </a:r>
            <a:r>
              <a:rPr lang="en-US" sz="2400" b="1" dirty="0" err="1">
                <a:latin typeface="Roboto" panose="02000000000000000000" pitchFamily="2" charset="0"/>
                <a:ea typeface="Roboto" panose="02000000000000000000" pitchFamily="2" charset="0"/>
                <a:cs typeface="Roboto" panose="02000000000000000000" pitchFamily="2" charset="0"/>
              </a:rPr>
              <a:t>AquaLife</a:t>
            </a:r>
            <a:r>
              <a:rPr lang="en-US" sz="2400" b="1" dirty="0">
                <a:latin typeface="Roboto" panose="02000000000000000000" pitchFamily="2" charset="0"/>
                <a:ea typeface="Roboto" panose="02000000000000000000" pitchFamily="2" charset="0"/>
                <a:cs typeface="Roboto" panose="02000000000000000000" pitchFamily="2" charset="0"/>
              </a:rPr>
              <a:t> Coastal Watch</a:t>
            </a:r>
            <a:r>
              <a:rPr lang="en-US" sz="2400" dirty="0">
                <a:latin typeface="Roboto" panose="02000000000000000000" pitchFamily="2" charset="0"/>
                <a:ea typeface="Roboto" panose="02000000000000000000" pitchFamily="2" charset="0"/>
                <a:cs typeface="Roboto" panose="02000000000000000000" pitchFamily="2" charset="0"/>
              </a:rPr>
              <a:t> project aims to develop a citizen science web application that allows people to report coastal pollution and marine wildlife sightings. By enabling users to upload geo-tagged images and environmental observations, the platform helps create a real-time monitoring system that supports conservation agencies in identifying pollution hotspots and protecting marine ecosystems</a:t>
            </a:r>
          </a:p>
        </p:txBody>
      </p:sp>
      <p:sp>
        <p:nvSpPr>
          <p:cNvPr id="9" name="Rectangle 8">
            <a:extLst>
              <a:ext uri="{FF2B5EF4-FFF2-40B4-BE49-F238E27FC236}">
                <a16:creationId xmlns:a16="http://schemas.microsoft.com/office/drawing/2014/main" id="{1DC6A63B-4DA4-B0DC-EBF0-0066DAE0F311}"/>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93790" y="76723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Problem Statement</a:t>
            </a:r>
            <a:endParaRPr lang="en-US" sz="4450" dirty="0"/>
          </a:p>
        </p:txBody>
      </p:sp>
      <p:sp>
        <p:nvSpPr>
          <p:cNvPr id="16" name="TextBox 15">
            <a:extLst>
              <a:ext uri="{FF2B5EF4-FFF2-40B4-BE49-F238E27FC236}">
                <a16:creationId xmlns:a16="http://schemas.microsoft.com/office/drawing/2014/main" id="{DC038BE0-C95B-F804-DCDB-33BFD7F2CF4B}"/>
              </a:ext>
            </a:extLst>
          </p:cNvPr>
          <p:cNvSpPr txBox="1"/>
          <p:nvPr/>
        </p:nvSpPr>
        <p:spPr>
          <a:xfrm>
            <a:off x="793791" y="2057400"/>
            <a:ext cx="13057292" cy="3046988"/>
          </a:xfrm>
          <a:prstGeom prst="rect">
            <a:avLst/>
          </a:prstGeom>
          <a:noFill/>
        </p:spPr>
        <p:txBody>
          <a:bodyPr wrap="square" rtlCol="0">
            <a:spAutoFit/>
          </a:bodyPr>
          <a:lstStyle/>
          <a:p>
            <a:r>
              <a:rPr lang="en-US" sz="2400" dirty="0">
                <a:latin typeface="Roboto" panose="02000000000000000000" pitchFamily="2" charset="0"/>
                <a:ea typeface="Roboto" panose="02000000000000000000" pitchFamily="2" charset="0"/>
                <a:cs typeface="Roboto" panose="02000000000000000000" pitchFamily="2" charset="0"/>
              </a:rPr>
              <a:t>Despite increasing concerns about marine pollution and endangered species, there is no centralized system that allows citizens to easily report coastal environmental issues.</a:t>
            </a:r>
          </a:p>
          <a:p>
            <a:r>
              <a:rPr lang="en-US" sz="2400" dirty="0">
                <a:latin typeface="Roboto" panose="02000000000000000000" pitchFamily="2" charset="0"/>
                <a:ea typeface="Roboto" panose="02000000000000000000" pitchFamily="2" charset="0"/>
                <a:cs typeface="Roboto" panose="02000000000000000000" pitchFamily="2" charset="0"/>
              </a:rPr>
              <a:t>Traditional monitoring systems rely on manual surveys, which are time-consuming and limited in coverage. As a result, many pollution incidents and wildlife sightings go undocumented.</a:t>
            </a:r>
          </a:p>
          <a:p>
            <a:r>
              <a:rPr lang="en-US" sz="2400" dirty="0">
                <a:latin typeface="Roboto" panose="02000000000000000000" pitchFamily="2" charset="0"/>
                <a:ea typeface="Roboto" panose="02000000000000000000" pitchFamily="2" charset="0"/>
                <a:cs typeface="Roboto" panose="02000000000000000000" pitchFamily="2" charset="0"/>
              </a:rPr>
              <a:t>The absence of real-time data and transparent monitoring creates challenges for marine conservationists to identify pollution hotspots and respond quickly. Therefore, there is a need for a reliable platform that enables crowd-sourced reporting and verified environmental monitoring.</a:t>
            </a:r>
          </a:p>
        </p:txBody>
      </p:sp>
      <p:sp>
        <p:nvSpPr>
          <p:cNvPr id="17" name="Rectangle 16">
            <a:extLst>
              <a:ext uri="{FF2B5EF4-FFF2-40B4-BE49-F238E27FC236}">
                <a16:creationId xmlns:a16="http://schemas.microsoft.com/office/drawing/2014/main" id="{6A31CB56-2D05-AA49-57C9-56DE438FB7EF}"/>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2D3C-F525-D008-4C73-3A030BE1F21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A826306-2956-8047-AFFB-137E20377E87}"/>
              </a:ext>
            </a:extLst>
          </p:cNvPr>
          <p:cNvSpPr/>
          <p:nvPr/>
        </p:nvSpPr>
        <p:spPr>
          <a:xfrm>
            <a:off x="793789" y="767239"/>
            <a:ext cx="10895984"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Sustainable Development Goal (SGD) - 14</a:t>
            </a:r>
            <a:endParaRPr lang="en-US" sz="4450" dirty="0"/>
          </a:p>
        </p:txBody>
      </p:sp>
      <p:sp>
        <p:nvSpPr>
          <p:cNvPr id="16" name="TextBox 15">
            <a:extLst>
              <a:ext uri="{FF2B5EF4-FFF2-40B4-BE49-F238E27FC236}">
                <a16:creationId xmlns:a16="http://schemas.microsoft.com/office/drawing/2014/main" id="{EC1EFF25-61E6-1273-5DF8-8719FC7A01D0}"/>
              </a:ext>
            </a:extLst>
          </p:cNvPr>
          <p:cNvSpPr txBox="1"/>
          <p:nvPr/>
        </p:nvSpPr>
        <p:spPr>
          <a:xfrm>
            <a:off x="793790" y="2057400"/>
            <a:ext cx="13145495" cy="523220"/>
          </a:xfrm>
          <a:prstGeom prst="rect">
            <a:avLst/>
          </a:prstGeom>
          <a:noFill/>
        </p:spPr>
        <p:txBody>
          <a:bodyPr wrap="square" rtlCol="0">
            <a:spAutoFit/>
          </a:bodyPr>
          <a:lstStyle/>
          <a:p>
            <a:pPr algn="just"/>
            <a:r>
              <a:rPr lang="en-US" sz="2800" dirty="0"/>
              <a:t>     Life Below Water</a:t>
            </a:r>
            <a:r>
              <a:rPr lang="en-US" sz="2800" dirty="0">
                <a:latin typeface="Roboto" panose="02000000000000000000" pitchFamily="2" charset="0"/>
                <a:ea typeface="Roboto" panose="02000000000000000000" pitchFamily="2" charset="0"/>
                <a:cs typeface="Roboto" panose="02000000000000000000" pitchFamily="2" charset="0"/>
              </a:rPr>
              <a:t>:</a:t>
            </a:r>
          </a:p>
        </p:txBody>
      </p:sp>
      <p:sp>
        <p:nvSpPr>
          <p:cNvPr id="2" name="TextBox 7">
            <a:extLst>
              <a:ext uri="{FF2B5EF4-FFF2-40B4-BE49-F238E27FC236}">
                <a16:creationId xmlns:a16="http://schemas.microsoft.com/office/drawing/2014/main" id="{B52430C4-8C1F-25E7-ECE9-232B96BC8277}"/>
              </a:ext>
            </a:extLst>
          </p:cNvPr>
          <p:cNvSpPr txBox="1"/>
          <p:nvPr/>
        </p:nvSpPr>
        <p:spPr>
          <a:xfrm>
            <a:off x="1219199" y="2550512"/>
            <a:ext cx="7290955" cy="230832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sz="2400" b="1" dirty="0">
                <a:latin typeface="Roboto" panose="02000000000000000000" pitchFamily="2" charset="0"/>
                <a:ea typeface="Roboto" panose="02000000000000000000" pitchFamily="2" charset="0"/>
                <a:cs typeface="Roboto" panose="02000000000000000000" pitchFamily="2" charset="0"/>
              </a:rPr>
              <a:t>Objectives of SDG 14</a:t>
            </a:r>
          </a:p>
          <a:p>
            <a:pPr>
              <a:buNone/>
            </a:pPr>
            <a:r>
              <a:rPr lang="en-US" sz="2400" dirty="0">
                <a:latin typeface="Roboto" panose="02000000000000000000" pitchFamily="2" charset="0"/>
                <a:ea typeface="Roboto" panose="02000000000000000000" pitchFamily="2" charset="0"/>
                <a:cs typeface="Roboto" panose="02000000000000000000" pitchFamily="2" charset="0"/>
              </a:rPr>
              <a:t>• Reduce marine pollution from land-based activities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Protect and restore marine ecosystems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Conserve coastal and marine biodiversity</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Prevent damage to marine habitats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Promote sustainable use of ocean resources</a:t>
            </a:r>
          </a:p>
        </p:txBody>
      </p:sp>
      <p:sp>
        <p:nvSpPr>
          <p:cNvPr id="4" name="TextBox 7">
            <a:extLst>
              <a:ext uri="{FF2B5EF4-FFF2-40B4-BE49-F238E27FC236}">
                <a16:creationId xmlns:a16="http://schemas.microsoft.com/office/drawing/2014/main" id="{B52430C4-8C1F-25E7-ECE9-232B96BC8277}"/>
              </a:ext>
            </a:extLst>
          </p:cNvPr>
          <p:cNvSpPr txBox="1"/>
          <p:nvPr/>
        </p:nvSpPr>
        <p:spPr>
          <a:xfrm>
            <a:off x="1219199" y="5228168"/>
            <a:ext cx="7363692" cy="230832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sz="2400" b="1" dirty="0">
                <a:latin typeface="Roboto" panose="02000000000000000000" pitchFamily="2" charset="0"/>
                <a:ea typeface="Roboto" panose="02000000000000000000" pitchFamily="2" charset="0"/>
                <a:cs typeface="Roboto" panose="02000000000000000000" pitchFamily="2" charset="0"/>
              </a:rPr>
              <a:t>Objectives of SDG 14</a:t>
            </a:r>
          </a:p>
          <a:p>
            <a:pPr>
              <a:buNone/>
            </a:pPr>
            <a:r>
              <a:rPr lang="en-US" sz="2400" dirty="0">
                <a:latin typeface="Roboto" panose="02000000000000000000" pitchFamily="2" charset="0"/>
                <a:ea typeface="Roboto" panose="02000000000000000000" pitchFamily="2" charset="0"/>
                <a:cs typeface="Roboto" panose="02000000000000000000" pitchFamily="2" charset="0"/>
              </a:rPr>
              <a:t>• Reduce marine pollution from land-based activities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Protect and restore marine ecosystems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Conserve coastal and marine biodiversity</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Prevent damage to marine habitats</a:t>
            </a:r>
            <a:br>
              <a:rPr lang="en-US" sz="2400" dirty="0">
                <a:latin typeface="Roboto" panose="02000000000000000000" pitchFamily="2" charset="0"/>
                <a:ea typeface="Roboto" panose="02000000000000000000" pitchFamily="2" charset="0"/>
                <a:cs typeface="Roboto" panose="02000000000000000000" pitchFamily="2" charset="0"/>
              </a:rPr>
            </a:br>
            <a:r>
              <a:rPr lang="en-US" sz="2400" dirty="0">
                <a:latin typeface="Roboto" panose="02000000000000000000" pitchFamily="2" charset="0"/>
                <a:ea typeface="Roboto" panose="02000000000000000000" pitchFamily="2" charset="0"/>
                <a:cs typeface="Roboto" panose="02000000000000000000" pitchFamily="2" charset="0"/>
              </a:rPr>
              <a:t>• Promote sustainable use of ocean resources</a:t>
            </a:r>
          </a:p>
        </p:txBody>
      </p:sp>
      <p:sp>
        <p:nvSpPr>
          <p:cNvPr id="5" name="Rectangle 4">
            <a:extLst>
              <a:ext uri="{FF2B5EF4-FFF2-40B4-BE49-F238E27FC236}">
                <a16:creationId xmlns:a16="http://schemas.microsoft.com/office/drawing/2014/main" id="{F9BA6C1A-BBA7-114E-0312-4F877223BF20}"/>
              </a:ext>
            </a:extLst>
          </p:cNvPr>
          <p:cNvSpPr/>
          <p:nvPr/>
        </p:nvSpPr>
        <p:spPr>
          <a:xfrm>
            <a:off x="12656128" y="7481455"/>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78291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4910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Proposed Solution</a:t>
            </a:r>
            <a:endParaRPr lang="en-US" sz="4450" dirty="0"/>
          </a:p>
        </p:txBody>
      </p:sp>
      <p:sp>
        <p:nvSpPr>
          <p:cNvPr id="3" name="Text 1"/>
          <p:cNvSpPr/>
          <p:nvPr/>
        </p:nvSpPr>
        <p:spPr>
          <a:xfrm>
            <a:off x="793790" y="2012273"/>
            <a:ext cx="13472928" cy="1284040"/>
          </a:xfrm>
          <a:prstGeom prst="rect">
            <a:avLst/>
          </a:prstGeom>
          <a:noFill/>
          <a:ln/>
        </p:spPr>
        <p:txBody>
          <a:bodyPr wrap="square" lIns="0" tIns="0" rIns="0" bIns="0" rtlCol="0" anchor="t"/>
          <a:lstStyle/>
          <a:p>
            <a:r>
              <a:rPr lang="en-US" sz="2000" dirty="0">
                <a:latin typeface="Roboto" panose="02000000000000000000" pitchFamily="2" charset="0"/>
                <a:ea typeface="Roboto" panose="02000000000000000000" pitchFamily="2" charset="0"/>
                <a:cs typeface="Roboto" panose="02000000000000000000" pitchFamily="2" charset="0"/>
              </a:rPr>
              <a:t>The proposed </a:t>
            </a:r>
            <a:r>
              <a:rPr lang="en-US" sz="2400" dirty="0">
                <a:latin typeface="Roboto" panose="02000000000000000000" pitchFamily="2" charset="0"/>
                <a:ea typeface="Roboto" panose="02000000000000000000" pitchFamily="2" charset="0"/>
                <a:cs typeface="Roboto" panose="02000000000000000000" pitchFamily="2" charset="0"/>
              </a:rPr>
              <a:t>system</a:t>
            </a:r>
            <a:r>
              <a:rPr lang="en-US" sz="2000" dirty="0">
                <a:latin typeface="Roboto" panose="02000000000000000000" pitchFamily="2" charset="0"/>
                <a:ea typeface="Roboto" panose="02000000000000000000" pitchFamily="2" charset="0"/>
                <a:cs typeface="Roboto" panose="02000000000000000000" pitchFamily="2" charset="0"/>
              </a:rPr>
              <a:t> </a:t>
            </a:r>
            <a:r>
              <a:rPr lang="en-US" sz="2000" b="1" dirty="0" err="1">
                <a:latin typeface="Roboto" panose="02000000000000000000" pitchFamily="2" charset="0"/>
                <a:ea typeface="Roboto" panose="02000000000000000000" pitchFamily="2" charset="0"/>
                <a:cs typeface="Roboto" panose="02000000000000000000" pitchFamily="2" charset="0"/>
              </a:rPr>
              <a:t>AquaLife</a:t>
            </a:r>
            <a:r>
              <a:rPr lang="en-US" sz="2000" b="1" dirty="0">
                <a:latin typeface="Roboto" panose="02000000000000000000" pitchFamily="2" charset="0"/>
                <a:ea typeface="Roboto" panose="02000000000000000000" pitchFamily="2" charset="0"/>
                <a:cs typeface="Roboto" panose="02000000000000000000" pitchFamily="2" charset="0"/>
              </a:rPr>
              <a:t> Coastal Watch</a:t>
            </a:r>
            <a:r>
              <a:rPr lang="en-US" sz="2000" dirty="0">
                <a:latin typeface="Roboto" panose="02000000000000000000" pitchFamily="2" charset="0"/>
                <a:ea typeface="Roboto" panose="02000000000000000000" pitchFamily="2" charset="0"/>
                <a:cs typeface="Roboto" panose="02000000000000000000" pitchFamily="2" charset="0"/>
              </a:rPr>
              <a:t> introduces a citizen-driven platform to monitor coastal pollution and marine wildlife </a:t>
            </a:r>
            <a:r>
              <a:rPr lang="en-US" sz="2000" dirty="0" err="1">
                <a:latin typeface="Roboto" panose="02000000000000000000" pitchFamily="2" charset="0"/>
                <a:ea typeface="Roboto" panose="02000000000000000000" pitchFamily="2" charset="0"/>
                <a:cs typeface="Roboto" panose="02000000000000000000" pitchFamily="2" charset="0"/>
              </a:rPr>
              <a:t>sightings.Through</a:t>
            </a:r>
            <a:r>
              <a:rPr lang="en-US" sz="2000" dirty="0">
                <a:latin typeface="Roboto" panose="02000000000000000000" pitchFamily="2" charset="0"/>
                <a:ea typeface="Roboto" panose="02000000000000000000" pitchFamily="2" charset="0"/>
                <a:cs typeface="Roboto" panose="02000000000000000000" pitchFamily="2" charset="0"/>
              </a:rPr>
              <a:t> geo-tagged reporting, moderator validation, and real-time data visualization, the platform helps environmental agencies detect pollution hotspots and take timely action</a:t>
            </a:r>
            <a:r>
              <a:rPr lang="en-US" sz="2000" dirty="0"/>
              <a:t>.</a:t>
            </a:r>
          </a:p>
          <a:p>
            <a:pPr>
              <a:lnSpc>
                <a:spcPts val="2850"/>
              </a:lnSpc>
            </a:pP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4" name="Shape 2"/>
          <p:cNvSpPr/>
          <p:nvPr/>
        </p:nvSpPr>
        <p:spPr>
          <a:xfrm>
            <a:off x="793790" y="3716416"/>
            <a:ext cx="4196358" cy="3567611"/>
          </a:xfrm>
          <a:prstGeom prst="roundRect">
            <a:avLst>
              <a:gd name="adj" fmla="val 1157"/>
            </a:avLst>
          </a:prstGeom>
          <a:solidFill>
            <a:srgbClr val="E9ECF2"/>
          </a:solidFill>
          <a:ln/>
        </p:spPr>
        <p:txBody>
          <a:bodyPr/>
          <a:lstStyle/>
          <a:p>
            <a:endParaRPr lang="en-US" dirty="0"/>
          </a:p>
        </p:txBody>
      </p:sp>
      <p:sp>
        <p:nvSpPr>
          <p:cNvPr id="7" name="Text 3"/>
          <p:cNvSpPr/>
          <p:nvPr/>
        </p:nvSpPr>
        <p:spPr>
          <a:xfrm>
            <a:off x="924223" y="39971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Innovation</a:t>
            </a:r>
            <a:endParaRPr lang="en-US" sz="2200" dirty="0"/>
          </a:p>
        </p:txBody>
      </p:sp>
      <p:sp>
        <p:nvSpPr>
          <p:cNvPr id="8" name="Text 4"/>
          <p:cNvSpPr/>
          <p:nvPr/>
        </p:nvSpPr>
        <p:spPr>
          <a:xfrm>
            <a:off x="924223" y="4561283"/>
            <a:ext cx="3980286" cy="2449591"/>
          </a:xfrm>
          <a:prstGeom prst="rect">
            <a:avLst/>
          </a:prstGeom>
          <a:noFill/>
          <a:ln/>
        </p:spPr>
        <p:txBody>
          <a:bodyPr wrap="square" lIns="0" tIns="0" rIns="0" bIns="0" rtlCol="0" anchor="t"/>
          <a:lstStyle/>
          <a:p>
            <a:pPr>
              <a:lnSpc>
                <a:spcPct val="150000"/>
              </a:lnSpc>
            </a:pPr>
            <a:r>
              <a:rPr lang="en-US" sz="1600" dirty="0">
                <a:latin typeface="Roboto" panose="02000000000000000000" pitchFamily="2" charset="0"/>
                <a:ea typeface="Roboto" panose="02000000000000000000" pitchFamily="2" charset="0"/>
                <a:cs typeface="Roboto" panose="02000000000000000000" pitchFamily="2" charset="0"/>
              </a:rPr>
              <a:t>A community-driven platform that allows citizens to report coastal pollution and marine wildlife sightings .</a:t>
            </a:r>
            <a:br>
              <a:rPr lang="en-US" sz="1600" dirty="0">
                <a:latin typeface="Roboto" panose="02000000000000000000" pitchFamily="2" charset="0"/>
                <a:ea typeface="Roboto" panose="02000000000000000000" pitchFamily="2" charset="0"/>
                <a:cs typeface="Roboto" panose="02000000000000000000" pitchFamily="2" charset="0"/>
              </a:rPr>
            </a:br>
            <a:r>
              <a:rPr lang="en-US" sz="1600" dirty="0">
                <a:latin typeface="Roboto" panose="02000000000000000000" pitchFamily="2" charset="0"/>
                <a:ea typeface="Roboto" panose="02000000000000000000" pitchFamily="2" charset="0"/>
                <a:cs typeface="Roboto" panose="02000000000000000000" pitchFamily="2" charset="0"/>
              </a:rPr>
              <a:t>The system helps create real-time environmental data to support marine conservation and pollution monitoring..</a:t>
            </a:r>
            <a:endParaRPr lang="en-US" sz="1750" dirty="0">
              <a:latin typeface="Roboto" panose="02000000000000000000" pitchFamily="2" charset="0"/>
              <a:ea typeface="Roboto" panose="02000000000000000000" pitchFamily="2" charset="0"/>
              <a:cs typeface="Roboto" panose="02000000000000000000" pitchFamily="2" charset="0"/>
            </a:endParaRPr>
          </a:p>
        </p:txBody>
      </p:sp>
      <p:sp>
        <p:nvSpPr>
          <p:cNvPr id="9" name="Shape 5"/>
          <p:cNvSpPr/>
          <p:nvPr/>
        </p:nvSpPr>
        <p:spPr>
          <a:xfrm>
            <a:off x="5216962" y="3716417"/>
            <a:ext cx="4196358" cy="3567610"/>
          </a:xfrm>
          <a:prstGeom prst="roundRect">
            <a:avLst>
              <a:gd name="adj" fmla="val 1157"/>
            </a:avLst>
          </a:prstGeom>
          <a:solidFill>
            <a:srgbClr val="E9ECF2"/>
          </a:solidFill>
          <a:ln/>
        </p:spPr>
        <p:txBody>
          <a:bodyPr/>
          <a:lstStyle/>
          <a:p>
            <a:endParaRPr lang="en-US" dirty="0"/>
          </a:p>
        </p:txBody>
      </p:sp>
      <p:sp>
        <p:nvSpPr>
          <p:cNvPr id="12" name="Text 6"/>
          <p:cNvSpPr/>
          <p:nvPr/>
        </p:nvSpPr>
        <p:spPr>
          <a:xfrm>
            <a:off x="5443775" y="39971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Approach</a:t>
            </a:r>
            <a:endParaRPr lang="en-US" sz="2200" dirty="0"/>
          </a:p>
        </p:txBody>
      </p:sp>
      <p:sp>
        <p:nvSpPr>
          <p:cNvPr id="13" name="Text 7"/>
          <p:cNvSpPr/>
          <p:nvPr/>
        </p:nvSpPr>
        <p:spPr>
          <a:xfrm>
            <a:off x="5443775" y="4561282"/>
            <a:ext cx="3742730" cy="2449591"/>
          </a:xfrm>
          <a:prstGeom prst="rect">
            <a:avLst/>
          </a:prstGeom>
          <a:noFill/>
          <a:ln/>
        </p:spPr>
        <p:txBody>
          <a:bodyPr wrap="square" lIns="0" tIns="0" rIns="0" bIns="0" rtlCol="0" anchor="t"/>
          <a:lstStyle/>
          <a:p>
            <a:pPr algn="just">
              <a:lnSpc>
                <a:spcPct val="150000"/>
              </a:lnSpc>
            </a:pPr>
            <a:r>
              <a:rPr lang="en-US" sz="1600" dirty="0">
                <a:latin typeface="Roboto" panose="02000000000000000000" pitchFamily="2" charset="0"/>
                <a:ea typeface="Roboto" panose="02000000000000000000" pitchFamily="2" charset="0"/>
                <a:cs typeface="Roboto" panose="02000000000000000000" pitchFamily="2" charset="0"/>
              </a:rPr>
              <a:t>Citizens submit reports with images and location data. Moderators verify submissions before publishing them on a public dashboard</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4" name="Shape 8"/>
          <p:cNvSpPr/>
          <p:nvPr/>
        </p:nvSpPr>
        <p:spPr>
          <a:xfrm>
            <a:off x="9640133" y="3716416"/>
            <a:ext cx="4196358" cy="3567609"/>
          </a:xfrm>
          <a:prstGeom prst="roundRect">
            <a:avLst>
              <a:gd name="adj" fmla="val 1157"/>
            </a:avLst>
          </a:prstGeom>
          <a:solidFill>
            <a:srgbClr val="E9ECF2"/>
          </a:solidFill>
          <a:ln/>
        </p:spPr>
      </p:sp>
      <p:sp>
        <p:nvSpPr>
          <p:cNvPr id="17" name="Text 9"/>
          <p:cNvSpPr/>
          <p:nvPr/>
        </p:nvSpPr>
        <p:spPr>
          <a:xfrm>
            <a:off x="9866948" y="40377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Advantages</a:t>
            </a:r>
            <a:endParaRPr lang="en-US" sz="2200" dirty="0"/>
          </a:p>
        </p:txBody>
      </p:sp>
      <p:sp>
        <p:nvSpPr>
          <p:cNvPr id="18" name="Text 10"/>
          <p:cNvSpPr/>
          <p:nvPr/>
        </p:nvSpPr>
        <p:spPr>
          <a:xfrm>
            <a:off x="9866948" y="5340906"/>
            <a:ext cx="3742730"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9" name="Rectangle 18">
            <a:extLst>
              <a:ext uri="{FF2B5EF4-FFF2-40B4-BE49-F238E27FC236}">
                <a16:creationId xmlns:a16="http://schemas.microsoft.com/office/drawing/2014/main" id="{18BD24BF-FAF9-BFD2-4339-842155A43CDB}"/>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6ADAD5B-A7EC-B4E4-D192-4C65ECA1CE17}"/>
              </a:ext>
            </a:extLst>
          </p:cNvPr>
          <p:cNvSpPr txBox="1"/>
          <p:nvPr/>
        </p:nvSpPr>
        <p:spPr>
          <a:xfrm>
            <a:off x="9715501" y="4561283"/>
            <a:ext cx="4273860" cy="2539157"/>
          </a:xfrm>
          <a:prstGeom prst="rect">
            <a:avLst/>
          </a:prstGeom>
          <a:noFill/>
        </p:spPr>
        <p:txBody>
          <a:bodyPr wrap="square" rtlCol="0">
            <a:spAutoFit/>
          </a:bodyPr>
          <a:lstStyle/>
          <a:p>
            <a:pPr>
              <a:lnSpc>
                <a:spcPct val="150000"/>
              </a:lnSpc>
            </a:pPr>
            <a:r>
              <a:rPr lang="en-US" dirty="0">
                <a:latin typeface="Roboto" panose="02000000000000000000" pitchFamily="2" charset="0"/>
                <a:ea typeface="Roboto" panose="02000000000000000000" pitchFamily="2" charset="0"/>
                <a:cs typeface="Roboto" panose="02000000000000000000" pitchFamily="2" charset="0"/>
              </a:rPr>
              <a:t>• </a:t>
            </a:r>
            <a:r>
              <a:rPr lang="en-US" sz="1600" dirty="0">
                <a:latin typeface="Roboto" panose="02000000000000000000" pitchFamily="2" charset="0"/>
                <a:ea typeface="Roboto" panose="02000000000000000000" pitchFamily="2" charset="0"/>
                <a:cs typeface="Roboto" panose="02000000000000000000" pitchFamily="2" charset="0"/>
              </a:rPr>
              <a:t>Verified</a:t>
            </a:r>
            <a:r>
              <a:rPr lang="en-US" dirty="0">
                <a:latin typeface="Roboto" panose="02000000000000000000" pitchFamily="2" charset="0"/>
                <a:ea typeface="Roboto" panose="02000000000000000000" pitchFamily="2" charset="0"/>
                <a:cs typeface="Roboto" panose="02000000000000000000" pitchFamily="2" charset="0"/>
              </a:rPr>
              <a:t> environmental reporting</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Faster response by conservation agencies</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Real-time pollution hotspot detection</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Increased public participation in conservation</a:t>
            </a:r>
            <a:endParaRPr lang="en-IN"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769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Objectives</a:t>
            </a:r>
            <a:endParaRPr lang="en-US" sz="4450" dirty="0"/>
          </a:p>
        </p:txBody>
      </p:sp>
      <p:sp>
        <p:nvSpPr>
          <p:cNvPr id="4" name="Text 2"/>
          <p:cNvSpPr/>
          <p:nvPr/>
        </p:nvSpPr>
        <p:spPr>
          <a:xfrm>
            <a:off x="793790" y="24181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5" name="Image 0" descr="preencoded.png"/>
          <p:cNvPicPr>
            <a:picLocks noChangeAspect="1"/>
          </p:cNvPicPr>
          <p:nvPr/>
        </p:nvPicPr>
        <p:blipFill>
          <a:blip r:embed="rId3"/>
          <a:stretch>
            <a:fillRect/>
          </a:stretch>
        </p:blipFill>
        <p:spPr>
          <a:xfrm>
            <a:off x="793790" y="3512463"/>
            <a:ext cx="6407944" cy="30480"/>
          </a:xfrm>
          <a:prstGeom prst="rect">
            <a:avLst/>
          </a:prstGeom>
        </p:spPr>
      </p:pic>
      <p:sp>
        <p:nvSpPr>
          <p:cNvPr id="6" name="Text 3"/>
          <p:cNvSpPr/>
          <p:nvPr/>
        </p:nvSpPr>
        <p:spPr>
          <a:xfrm>
            <a:off x="793790" y="2792757"/>
            <a:ext cx="3653519" cy="354330"/>
          </a:xfrm>
          <a:prstGeom prst="rect">
            <a:avLst/>
          </a:prstGeom>
          <a:noFill/>
          <a:ln/>
        </p:spPr>
        <p:txBody>
          <a:bodyPr wrap="none" lIns="0" tIns="0" rIns="0" bIns="0" rtlCol="0" anchor="t"/>
          <a:lstStyle/>
          <a:p>
            <a:pPr>
              <a:lnSpc>
                <a:spcPts val="2750"/>
              </a:lnSpc>
            </a:pPr>
            <a:r>
              <a:rPr lang="en-IN" sz="2400" b="1" dirty="0"/>
              <a:t>Community-Based Reporting</a:t>
            </a:r>
            <a:endParaRPr lang="en-US" sz="2200" b="1" dirty="0"/>
          </a:p>
        </p:txBody>
      </p:sp>
      <p:sp>
        <p:nvSpPr>
          <p:cNvPr id="7" name="Text 4"/>
          <p:cNvSpPr/>
          <p:nvPr/>
        </p:nvSpPr>
        <p:spPr>
          <a:xfrm>
            <a:off x="793789" y="3358515"/>
            <a:ext cx="6407944" cy="1122640"/>
          </a:xfrm>
          <a:prstGeom prst="rect">
            <a:avLst/>
          </a:prstGeom>
          <a:noFill/>
          <a:ln/>
        </p:spPr>
        <p:txBody>
          <a:bodyPr wrap="square" lIns="0" tIns="0" rIns="0" bIns="0" rtlCol="0" anchor="t"/>
          <a:lstStyle/>
          <a:p>
            <a:pPr algn="just"/>
            <a:r>
              <a:rPr lang="en-US" dirty="0"/>
              <a:t>To provide a platform where citizens can easily report coastal pollution and marine wildlife sightings with location details and images.</a:t>
            </a:r>
          </a:p>
        </p:txBody>
      </p:sp>
      <p:sp>
        <p:nvSpPr>
          <p:cNvPr id="8" name="Text 5"/>
          <p:cNvSpPr/>
          <p:nvPr/>
        </p:nvSpPr>
        <p:spPr>
          <a:xfrm>
            <a:off x="7323746" y="24181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9" name="Image 1" descr="preencoded.png"/>
          <p:cNvPicPr>
            <a:picLocks noChangeAspect="1"/>
          </p:cNvPicPr>
          <p:nvPr/>
        </p:nvPicPr>
        <p:blipFill>
          <a:blip r:embed="rId3"/>
          <a:stretch>
            <a:fillRect/>
          </a:stretch>
        </p:blipFill>
        <p:spPr>
          <a:xfrm>
            <a:off x="7428548" y="3535204"/>
            <a:ext cx="6408063" cy="30480"/>
          </a:xfrm>
          <a:prstGeom prst="rect">
            <a:avLst/>
          </a:prstGeom>
        </p:spPr>
      </p:pic>
      <p:sp>
        <p:nvSpPr>
          <p:cNvPr id="10" name="Text 6"/>
          <p:cNvSpPr/>
          <p:nvPr/>
        </p:nvSpPr>
        <p:spPr>
          <a:xfrm>
            <a:off x="7315200" y="2792757"/>
            <a:ext cx="3740727" cy="354330"/>
          </a:xfrm>
          <a:prstGeom prst="rect">
            <a:avLst/>
          </a:prstGeom>
          <a:noFill/>
          <a:ln/>
        </p:spPr>
        <p:txBody>
          <a:bodyPr wrap="none" lIns="0" tIns="0" rIns="0" bIns="0" rtlCol="0" anchor="t"/>
          <a:lstStyle/>
          <a:p>
            <a:pPr>
              <a:lnSpc>
                <a:spcPts val="2750"/>
              </a:lnSpc>
            </a:pPr>
            <a:r>
              <a:rPr lang="en-IN" sz="2400" b="1" dirty="0"/>
              <a:t>Report Validation Mechanism</a:t>
            </a:r>
            <a:endParaRPr lang="en-US" sz="2200" b="1" dirty="0"/>
          </a:p>
        </p:txBody>
      </p:sp>
      <p:sp>
        <p:nvSpPr>
          <p:cNvPr id="12" name="Text 8"/>
          <p:cNvSpPr/>
          <p:nvPr/>
        </p:nvSpPr>
        <p:spPr>
          <a:xfrm>
            <a:off x="793790" y="461724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3" name="Image 2" descr="preencoded.png"/>
          <p:cNvPicPr>
            <a:picLocks noChangeAspect="1"/>
          </p:cNvPicPr>
          <p:nvPr/>
        </p:nvPicPr>
        <p:blipFill>
          <a:blip r:embed="rId3"/>
          <a:stretch>
            <a:fillRect/>
          </a:stretch>
        </p:blipFill>
        <p:spPr>
          <a:xfrm>
            <a:off x="793790" y="5632252"/>
            <a:ext cx="6407944" cy="30480"/>
          </a:xfrm>
          <a:prstGeom prst="rect">
            <a:avLst/>
          </a:prstGeom>
        </p:spPr>
      </p:pic>
      <p:sp>
        <p:nvSpPr>
          <p:cNvPr id="14" name="Text 9"/>
          <p:cNvSpPr/>
          <p:nvPr/>
        </p:nvSpPr>
        <p:spPr>
          <a:xfrm>
            <a:off x="769322" y="5059231"/>
            <a:ext cx="3449387" cy="354330"/>
          </a:xfrm>
          <a:prstGeom prst="rect">
            <a:avLst/>
          </a:prstGeom>
          <a:noFill/>
          <a:ln/>
        </p:spPr>
        <p:txBody>
          <a:bodyPr wrap="none" lIns="0" tIns="0" rIns="0" bIns="0" rtlCol="0" anchor="t"/>
          <a:lstStyle/>
          <a:p>
            <a:pPr>
              <a:lnSpc>
                <a:spcPts val="2750"/>
              </a:lnSpc>
            </a:pPr>
            <a:r>
              <a:rPr lang="en-IN" sz="2400" b="1" dirty="0"/>
              <a:t>Transparent Issue Tracking</a:t>
            </a:r>
            <a:endParaRPr lang="en-US" sz="2200" b="1" dirty="0"/>
          </a:p>
        </p:txBody>
      </p:sp>
      <p:sp>
        <p:nvSpPr>
          <p:cNvPr id="16" name="Text 11"/>
          <p:cNvSpPr/>
          <p:nvPr/>
        </p:nvSpPr>
        <p:spPr>
          <a:xfrm>
            <a:off x="7315141" y="461724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7" name="Image 3" descr="preencoded.png"/>
          <p:cNvPicPr>
            <a:picLocks noChangeAspect="1"/>
          </p:cNvPicPr>
          <p:nvPr/>
        </p:nvPicPr>
        <p:blipFill>
          <a:blip r:embed="rId3"/>
          <a:stretch>
            <a:fillRect/>
          </a:stretch>
        </p:blipFill>
        <p:spPr>
          <a:xfrm>
            <a:off x="7428548" y="5632252"/>
            <a:ext cx="6408063" cy="30480"/>
          </a:xfrm>
          <a:prstGeom prst="rect">
            <a:avLst/>
          </a:prstGeom>
        </p:spPr>
      </p:pic>
      <p:sp>
        <p:nvSpPr>
          <p:cNvPr id="18" name="Text 12"/>
          <p:cNvSpPr/>
          <p:nvPr/>
        </p:nvSpPr>
        <p:spPr>
          <a:xfrm>
            <a:off x="7312765" y="5059231"/>
            <a:ext cx="4387399" cy="354330"/>
          </a:xfrm>
          <a:prstGeom prst="rect">
            <a:avLst/>
          </a:prstGeom>
          <a:noFill/>
          <a:ln/>
        </p:spPr>
        <p:txBody>
          <a:bodyPr wrap="none" lIns="0" tIns="0" rIns="0" bIns="0" rtlCol="0" anchor="t"/>
          <a:lstStyle/>
          <a:p>
            <a:pPr>
              <a:lnSpc>
                <a:spcPts val="2750"/>
              </a:lnSpc>
            </a:pPr>
            <a:r>
              <a:rPr lang="en-IN" sz="2400" b="1" dirty="0"/>
              <a:t>Efficient Authority Communication</a:t>
            </a:r>
            <a:endParaRPr lang="en-US" sz="2200" b="1" dirty="0"/>
          </a:p>
        </p:txBody>
      </p:sp>
      <p:sp>
        <p:nvSpPr>
          <p:cNvPr id="20" name="Rectangle 19">
            <a:extLst>
              <a:ext uri="{FF2B5EF4-FFF2-40B4-BE49-F238E27FC236}">
                <a16:creationId xmlns:a16="http://schemas.microsoft.com/office/drawing/2014/main" id="{FFEEF58F-6174-6DC7-30DF-6C71DF662220}"/>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871ABD7-95B2-2690-7DD2-C6156AB82F10}"/>
              </a:ext>
            </a:extLst>
          </p:cNvPr>
          <p:cNvSpPr txBox="1"/>
          <p:nvPr/>
        </p:nvSpPr>
        <p:spPr>
          <a:xfrm>
            <a:off x="7312765" y="3295688"/>
            <a:ext cx="6195417" cy="646331"/>
          </a:xfrm>
          <a:prstGeom prst="rect">
            <a:avLst/>
          </a:prstGeom>
          <a:noFill/>
        </p:spPr>
        <p:txBody>
          <a:bodyPr wrap="square" rtlCol="0">
            <a:spAutoFit/>
          </a:bodyPr>
          <a:lstStyle/>
          <a:p>
            <a:pPr algn="just"/>
            <a:r>
              <a:rPr lang="en-US" dirty="0"/>
              <a:t>To implement moderator validation to ensure authenticity and reliability of submitted reports.</a:t>
            </a:r>
            <a:endParaRPr lang="en-IN" dirty="0"/>
          </a:p>
        </p:txBody>
      </p:sp>
      <p:sp>
        <p:nvSpPr>
          <p:cNvPr id="22" name="TextBox 21">
            <a:extLst>
              <a:ext uri="{FF2B5EF4-FFF2-40B4-BE49-F238E27FC236}">
                <a16:creationId xmlns:a16="http://schemas.microsoft.com/office/drawing/2014/main" id="{D6B6ACDD-A949-CF0E-7DDA-E85498B8EBE7}"/>
              </a:ext>
            </a:extLst>
          </p:cNvPr>
          <p:cNvSpPr txBox="1"/>
          <p:nvPr/>
        </p:nvSpPr>
        <p:spPr>
          <a:xfrm>
            <a:off x="689881" y="5632252"/>
            <a:ext cx="6408063" cy="646331"/>
          </a:xfrm>
          <a:prstGeom prst="rect">
            <a:avLst/>
          </a:prstGeom>
          <a:noFill/>
        </p:spPr>
        <p:txBody>
          <a:bodyPr wrap="square" rtlCol="0">
            <a:spAutoFit/>
          </a:bodyPr>
          <a:lstStyle/>
          <a:p>
            <a:pPr algn="just"/>
            <a:r>
              <a:rPr lang="en-US" dirty="0"/>
              <a:t>To create a public dashboard that tracks pollution incidents and wildlife sightings in real time.</a:t>
            </a:r>
            <a:endParaRPr lang="en-IN" dirty="0"/>
          </a:p>
        </p:txBody>
      </p:sp>
      <p:sp>
        <p:nvSpPr>
          <p:cNvPr id="23" name="TextBox 22">
            <a:extLst>
              <a:ext uri="{FF2B5EF4-FFF2-40B4-BE49-F238E27FC236}">
                <a16:creationId xmlns:a16="http://schemas.microsoft.com/office/drawing/2014/main" id="{A5ADF5B9-3E67-EA2E-4536-A61392A260E4}"/>
              </a:ext>
            </a:extLst>
          </p:cNvPr>
          <p:cNvSpPr txBox="1"/>
          <p:nvPr/>
        </p:nvSpPr>
        <p:spPr>
          <a:xfrm>
            <a:off x="7305643" y="5632252"/>
            <a:ext cx="6184436" cy="646331"/>
          </a:xfrm>
          <a:prstGeom prst="rect">
            <a:avLst/>
          </a:prstGeom>
          <a:noFill/>
        </p:spPr>
        <p:txBody>
          <a:bodyPr wrap="square" rtlCol="0">
            <a:spAutoFit/>
          </a:bodyPr>
          <a:lstStyle/>
          <a:p>
            <a:pPr algn="just"/>
            <a:r>
              <a:rPr lang="en-US" dirty="0"/>
              <a:t>To help conservation authorities identify pollution hotspots and respond efficiently.</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60596" y="822722"/>
            <a:ext cx="4604742" cy="575667"/>
          </a:xfrm>
          <a:prstGeom prst="rect">
            <a:avLst/>
          </a:prstGeom>
          <a:noFill/>
          <a:ln/>
        </p:spPr>
        <p:txBody>
          <a:bodyPr wrap="none" lIns="0" tIns="0" rIns="0" bIns="0" rtlCol="0" anchor="t"/>
          <a:lstStyle/>
          <a:p>
            <a:pPr marL="0" indent="0" algn="l">
              <a:lnSpc>
                <a:spcPts val="4500"/>
              </a:lnSpc>
              <a:buNone/>
            </a:pPr>
            <a:r>
              <a:rPr lang="en-US" sz="3600" dirty="0">
                <a:solidFill>
                  <a:srgbClr val="3257B8"/>
                </a:solidFill>
                <a:latin typeface="Roboto Slab" pitchFamily="34" charset="0"/>
                <a:ea typeface="Roboto Slab" pitchFamily="34" charset="-122"/>
                <a:cs typeface="Roboto Slab" pitchFamily="34" charset="-120"/>
              </a:rPr>
              <a:t>Technology Stack</a:t>
            </a:r>
            <a:endParaRPr lang="en-US" sz="36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0596" y="2132648"/>
            <a:ext cx="460415" cy="460415"/>
          </a:xfrm>
          <a:prstGeom prst="rect">
            <a:avLst/>
          </a:prstGeom>
        </p:spPr>
      </p:pic>
      <p:sp>
        <p:nvSpPr>
          <p:cNvPr id="5" name="Text 2"/>
          <p:cNvSpPr/>
          <p:nvPr/>
        </p:nvSpPr>
        <p:spPr>
          <a:xfrm>
            <a:off x="960596" y="2779990"/>
            <a:ext cx="2753797" cy="287774"/>
          </a:xfrm>
          <a:prstGeom prst="rect">
            <a:avLst/>
          </a:prstGeom>
          <a:noFill/>
          <a:ln/>
        </p:spPr>
        <p:txBody>
          <a:bodyPr wrap="none" lIns="0" tIns="0" rIns="0" bIns="0" rtlCol="0" anchor="t"/>
          <a:lstStyle/>
          <a:p>
            <a:pPr marL="0" indent="0" algn="l">
              <a:lnSpc>
                <a:spcPts val="2250"/>
              </a:lnSpc>
              <a:buNone/>
            </a:pPr>
            <a:r>
              <a:rPr lang="en-US" sz="1800" dirty="0">
                <a:latin typeface="Roboto Slab" pitchFamily="2" charset="0"/>
                <a:ea typeface="Roboto Slab" pitchFamily="2" charset="0"/>
                <a:cs typeface="Roboto Slab" pitchFamily="2" charset="0"/>
              </a:rPr>
              <a:t>Frontend</a:t>
            </a:r>
          </a:p>
        </p:txBody>
      </p:sp>
      <p:sp>
        <p:nvSpPr>
          <p:cNvPr id="6" name="Text 3"/>
          <p:cNvSpPr/>
          <p:nvPr/>
        </p:nvSpPr>
        <p:spPr>
          <a:xfrm>
            <a:off x="960596" y="3157418"/>
            <a:ext cx="6261021" cy="533876"/>
          </a:xfrm>
          <a:prstGeom prst="rect">
            <a:avLst/>
          </a:prstGeom>
          <a:noFill/>
          <a:ln/>
        </p:spPr>
        <p:txBody>
          <a:bodyPr wrap="square" lIns="0" tIns="0" rIns="0" bIns="0" rtlCol="0" anchor="t"/>
          <a:lstStyle/>
          <a:p>
            <a:pPr>
              <a:lnSpc>
                <a:spcPts val="2100"/>
              </a:lnSpc>
            </a:pPr>
            <a:r>
              <a:rPr lang="en-US" sz="1600" b="1" dirty="0">
                <a:latin typeface="Roboto" panose="02000000000000000000" pitchFamily="2" charset="0"/>
                <a:ea typeface="Roboto" panose="02000000000000000000" pitchFamily="2" charset="0"/>
                <a:cs typeface="Roboto" panose="02000000000000000000" pitchFamily="2" charset="0"/>
              </a:rPr>
              <a:t>React.js</a:t>
            </a:r>
            <a:r>
              <a:rPr lang="en-US" sz="1600" dirty="0">
                <a:latin typeface="Roboto" panose="02000000000000000000" pitchFamily="2" charset="0"/>
                <a:ea typeface="Roboto" panose="02000000000000000000" pitchFamily="2" charset="0"/>
                <a:cs typeface="Roboto" panose="02000000000000000000" pitchFamily="2" charset="0"/>
              </a:rPr>
              <a:t> – Used to build dynamic and responsive user interfaces.</a:t>
            </a: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8545" y="2132648"/>
            <a:ext cx="460415" cy="460415"/>
          </a:xfrm>
          <a:prstGeom prst="rect">
            <a:avLst/>
          </a:prstGeom>
        </p:spPr>
      </p:pic>
      <p:sp>
        <p:nvSpPr>
          <p:cNvPr id="8" name="Text 4"/>
          <p:cNvSpPr/>
          <p:nvPr/>
        </p:nvSpPr>
        <p:spPr>
          <a:xfrm>
            <a:off x="7408545" y="2779990"/>
            <a:ext cx="2607112" cy="287774"/>
          </a:xfrm>
          <a:prstGeom prst="rect">
            <a:avLst/>
          </a:prstGeom>
          <a:noFill/>
          <a:ln/>
        </p:spPr>
        <p:txBody>
          <a:bodyPr wrap="none" lIns="0" tIns="0" rIns="0" bIns="0" rtlCol="0" anchor="t"/>
          <a:lstStyle/>
          <a:p>
            <a:pPr marL="0" indent="0" algn="l">
              <a:lnSpc>
                <a:spcPts val="2250"/>
              </a:lnSpc>
              <a:buNone/>
            </a:pPr>
            <a:r>
              <a:rPr lang="en-US" sz="1800" dirty="0">
                <a:latin typeface="Roboto Slab" pitchFamily="2" charset="0"/>
                <a:ea typeface="Roboto Slab" pitchFamily="2" charset="0"/>
                <a:cs typeface="Roboto Slab" pitchFamily="2" charset="0"/>
              </a:rPr>
              <a:t>Backend</a:t>
            </a:r>
          </a:p>
        </p:txBody>
      </p:sp>
      <p:sp>
        <p:nvSpPr>
          <p:cNvPr id="9" name="Text 5"/>
          <p:cNvSpPr/>
          <p:nvPr/>
        </p:nvSpPr>
        <p:spPr>
          <a:xfrm>
            <a:off x="7408545" y="3157418"/>
            <a:ext cx="6261140" cy="533876"/>
          </a:xfrm>
          <a:prstGeom prst="rect">
            <a:avLst/>
          </a:prstGeom>
          <a:noFill/>
          <a:ln/>
        </p:spPr>
        <p:txBody>
          <a:bodyPr wrap="none" lIns="0" tIns="0" rIns="0" bIns="0" rtlCol="0" anchor="t"/>
          <a:lstStyle/>
          <a:p>
            <a:pPr>
              <a:lnSpc>
                <a:spcPts val="2100"/>
              </a:lnSpc>
            </a:pPr>
            <a:r>
              <a:rPr lang="en-IN" sz="1600" b="1" dirty="0">
                <a:latin typeface="Roboto" panose="02000000000000000000" pitchFamily="2" charset="0"/>
                <a:ea typeface="Roboto" panose="02000000000000000000" pitchFamily="2" charset="0"/>
                <a:cs typeface="Roboto" panose="02000000000000000000" pitchFamily="2" charset="0"/>
              </a:rPr>
              <a:t>Node.js</a:t>
            </a:r>
            <a:r>
              <a:rPr lang="en-IN" sz="1600" dirty="0">
                <a:latin typeface="Roboto" panose="02000000000000000000" pitchFamily="2" charset="0"/>
                <a:ea typeface="Roboto" panose="02000000000000000000" pitchFamily="2" charset="0"/>
                <a:cs typeface="Roboto" panose="02000000000000000000" pitchFamily="2" charset="0"/>
              </a:rPr>
              <a:t> – Server-side runtime environment.</a:t>
            </a:r>
          </a:p>
          <a:p>
            <a:pPr>
              <a:lnSpc>
                <a:spcPts val="2100"/>
              </a:lnSpc>
            </a:pPr>
            <a:r>
              <a:rPr lang="en-US" sz="1600" b="1" dirty="0">
                <a:latin typeface="Roboto" panose="02000000000000000000" pitchFamily="2" charset="0"/>
                <a:ea typeface="Roboto" panose="02000000000000000000" pitchFamily="2" charset="0"/>
                <a:cs typeface="Roboto" panose="02000000000000000000" pitchFamily="2" charset="0"/>
              </a:rPr>
              <a:t>Express.js</a:t>
            </a:r>
            <a:r>
              <a:rPr lang="en-US" sz="1600" dirty="0">
                <a:latin typeface="Roboto" panose="02000000000000000000" pitchFamily="2" charset="0"/>
                <a:ea typeface="Roboto" panose="02000000000000000000" pitchFamily="2" charset="0"/>
                <a:cs typeface="Roboto" panose="02000000000000000000" pitchFamily="2" charset="0"/>
              </a:rPr>
              <a:t> – Framework for handling routing and server logic.</a:t>
            </a: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596" y="3990380"/>
            <a:ext cx="460415" cy="460415"/>
          </a:xfrm>
          <a:prstGeom prst="rect">
            <a:avLst/>
          </a:prstGeom>
        </p:spPr>
      </p:pic>
      <p:sp>
        <p:nvSpPr>
          <p:cNvPr id="11" name="Text 6"/>
          <p:cNvSpPr/>
          <p:nvPr/>
        </p:nvSpPr>
        <p:spPr>
          <a:xfrm>
            <a:off x="960596" y="4637722"/>
            <a:ext cx="2302312" cy="287774"/>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Database </a:t>
            </a:r>
            <a:endParaRPr lang="en-US" sz="1800" dirty="0"/>
          </a:p>
        </p:txBody>
      </p:sp>
      <p:sp>
        <p:nvSpPr>
          <p:cNvPr id="12" name="Text 7"/>
          <p:cNvSpPr/>
          <p:nvPr/>
        </p:nvSpPr>
        <p:spPr>
          <a:xfrm>
            <a:off x="960596" y="5015151"/>
            <a:ext cx="6261021" cy="533876"/>
          </a:xfrm>
          <a:prstGeom prst="rect">
            <a:avLst/>
          </a:prstGeom>
          <a:noFill/>
          <a:ln/>
        </p:spPr>
        <p:txBody>
          <a:bodyPr wrap="square" lIns="0" tIns="0" rIns="0" bIns="0" rtlCol="0" anchor="t"/>
          <a:lstStyle/>
          <a:p>
            <a:pPr>
              <a:lnSpc>
                <a:spcPts val="2100"/>
              </a:lnSpc>
            </a:pPr>
            <a:r>
              <a:rPr lang="en-IN" sz="1600" b="1" dirty="0">
                <a:latin typeface="Roboto" panose="02000000000000000000" pitchFamily="2" charset="0"/>
                <a:ea typeface="Roboto" panose="02000000000000000000" pitchFamily="2" charset="0"/>
                <a:cs typeface="Roboto" panose="02000000000000000000" pitchFamily="2" charset="0"/>
              </a:rPr>
              <a:t>MongoDB</a:t>
            </a:r>
            <a:r>
              <a:rPr lang="en-IN" sz="1600" dirty="0">
                <a:latin typeface="Roboto" panose="02000000000000000000" pitchFamily="2" charset="0"/>
                <a:ea typeface="Roboto" panose="02000000000000000000" pitchFamily="2" charset="0"/>
                <a:cs typeface="Roboto" panose="02000000000000000000" pitchFamily="2" charset="0"/>
              </a:rPr>
              <a:t> – NoSQL database for storing users, reports, and forum data.</a:t>
            </a:r>
            <a:endParaRPr lang="en-US" sz="1450" dirty="0">
              <a:latin typeface="Roboto" panose="02000000000000000000" pitchFamily="2" charset="0"/>
              <a:ea typeface="Roboto" panose="02000000000000000000" pitchFamily="2" charset="0"/>
              <a:cs typeface="Roboto" panose="02000000000000000000" pitchFamily="2" charset="0"/>
            </a:endParaRPr>
          </a:p>
        </p:txBody>
      </p:sp>
      <p:pic>
        <p:nvPicPr>
          <p:cNvPr id="1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08664" y="4114800"/>
            <a:ext cx="460415" cy="460415"/>
          </a:xfrm>
          <a:prstGeom prst="rect">
            <a:avLst/>
          </a:prstGeom>
        </p:spPr>
      </p:pic>
      <p:sp>
        <p:nvSpPr>
          <p:cNvPr id="17" name="Text 10"/>
          <p:cNvSpPr/>
          <p:nvPr/>
        </p:nvSpPr>
        <p:spPr>
          <a:xfrm>
            <a:off x="7408664" y="4762143"/>
            <a:ext cx="2302312" cy="287774"/>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Development Tools</a:t>
            </a:r>
            <a:endParaRPr lang="en-US" sz="1800" dirty="0"/>
          </a:p>
        </p:txBody>
      </p:sp>
      <p:sp>
        <p:nvSpPr>
          <p:cNvPr id="18" name="Text 11"/>
          <p:cNvSpPr/>
          <p:nvPr/>
        </p:nvSpPr>
        <p:spPr>
          <a:xfrm>
            <a:off x="7408664" y="5139571"/>
            <a:ext cx="6261021" cy="266938"/>
          </a:xfrm>
          <a:prstGeom prst="rect">
            <a:avLst/>
          </a:prstGeom>
          <a:noFill/>
          <a:ln/>
        </p:spPr>
        <p:txBody>
          <a:bodyPr wrap="none" lIns="0" tIns="0" rIns="0" bIns="0" rtlCol="0" anchor="t"/>
          <a:lstStyle/>
          <a:p>
            <a:pPr>
              <a:lnSpc>
                <a:spcPts val="2100"/>
              </a:lnSpc>
            </a:pPr>
            <a:r>
              <a:rPr lang="en-IN" sz="1600" dirty="0">
                <a:latin typeface="Roboto" panose="02000000000000000000" pitchFamily="2" charset="0"/>
                <a:ea typeface="Roboto" panose="02000000000000000000" pitchFamily="2" charset="0"/>
                <a:cs typeface="Roboto" panose="02000000000000000000" pitchFamily="2" charset="0"/>
              </a:rPr>
              <a:t>VS Code – Code editor, Git &amp; GitHub – Version control, Figma – UI/UX design</a:t>
            </a:r>
            <a:endParaRPr lang="en-US" sz="1450" dirty="0">
              <a:latin typeface="Roboto" panose="02000000000000000000" pitchFamily="2" charset="0"/>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8BF249E2-7BE8-7FAC-9FA9-1128923F961C}"/>
              </a:ext>
            </a:extLst>
          </p:cNvPr>
          <p:cNvSpPr/>
          <p:nvPr/>
        </p:nvSpPr>
        <p:spPr>
          <a:xfrm>
            <a:off x="12656128" y="7564582"/>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61475" y="685724"/>
            <a:ext cx="5395793" cy="674489"/>
          </a:xfrm>
          <a:prstGeom prst="rect">
            <a:avLst/>
          </a:prstGeom>
          <a:noFill/>
          <a:ln/>
        </p:spPr>
        <p:txBody>
          <a:bodyPr wrap="none" lIns="0" tIns="0" rIns="0" bIns="0" rtlCol="0" anchor="t"/>
          <a:lstStyle/>
          <a:p>
            <a:pPr marL="0" indent="0" algn="l">
              <a:lnSpc>
                <a:spcPts val="5300"/>
              </a:lnSpc>
              <a:buNone/>
            </a:pPr>
            <a:r>
              <a:rPr lang="en-US" sz="4400" dirty="0">
                <a:solidFill>
                  <a:srgbClr val="3257B8"/>
                </a:solidFill>
                <a:latin typeface="Roboto Slab" pitchFamily="34" charset="0"/>
                <a:ea typeface="Roboto Slab" pitchFamily="34" charset="-122"/>
                <a:cs typeface="Roboto Slab" pitchFamily="34" charset="-120"/>
              </a:rPr>
              <a:t>System Architecture</a:t>
            </a:r>
            <a:endParaRPr lang="en-US" sz="4400" dirty="0"/>
          </a:p>
        </p:txBody>
      </p:sp>
      <p:sp>
        <p:nvSpPr>
          <p:cNvPr id="14" name="Rectangle 13">
            <a:extLst>
              <a:ext uri="{FF2B5EF4-FFF2-40B4-BE49-F238E27FC236}">
                <a16:creationId xmlns:a16="http://schemas.microsoft.com/office/drawing/2014/main" id="{724E9CF7-305B-F857-F7AB-2D5C84B03534}"/>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D127E5A1-0C8D-7D25-4C3E-7890C3C6A08D}"/>
              </a:ext>
            </a:extLst>
          </p:cNvPr>
          <p:cNvPicPr>
            <a:picLocks noChangeAspect="1"/>
          </p:cNvPicPr>
          <p:nvPr/>
        </p:nvPicPr>
        <p:blipFill>
          <a:blip r:embed="rId3"/>
          <a:stretch>
            <a:fillRect/>
          </a:stretch>
        </p:blipFill>
        <p:spPr>
          <a:xfrm>
            <a:off x="3112077" y="1610591"/>
            <a:ext cx="8406245" cy="57981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40987" y="560860"/>
            <a:ext cx="4761190" cy="594360"/>
          </a:xfrm>
          <a:prstGeom prst="rect">
            <a:avLst/>
          </a:prstGeom>
          <a:noFill/>
          <a:ln/>
        </p:spPr>
        <p:txBody>
          <a:bodyPr wrap="none" lIns="0" tIns="0" rIns="0" bIns="0" rtlCol="0" anchor="t"/>
          <a:lstStyle/>
          <a:p>
            <a:pPr marL="0" indent="0" algn="l">
              <a:lnSpc>
                <a:spcPts val="4650"/>
              </a:lnSpc>
              <a:buNone/>
            </a:pPr>
            <a:r>
              <a:rPr lang="en-US" sz="3700" dirty="0">
                <a:solidFill>
                  <a:srgbClr val="3257B8"/>
                </a:solidFill>
                <a:latin typeface="Roboto Slab" pitchFamily="34" charset="0"/>
                <a:ea typeface="Roboto Slab" pitchFamily="34" charset="-122"/>
                <a:cs typeface="Roboto Slab" pitchFamily="34" charset="-120"/>
              </a:rPr>
              <a:t>Implementation</a:t>
            </a:r>
            <a:endParaRPr lang="en-US" sz="3700" dirty="0"/>
          </a:p>
        </p:txBody>
      </p:sp>
      <p:sp>
        <p:nvSpPr>
          <p:cNvPr id="26" name="Rectangle 25">
            <a:extLst>
              <a:ext uri="{FF2B5EF4-FFF2-40B4-BE49-F238E27FC236}">
                <a16:creationId xmlns:a16="http://schemas.microsoft.com/office/drawing/2014/main" id="{D80B5EA9-33E1-4B13-9512-DF5D82AD3095}"/>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ADB247A-7B31-AC44-08FC-27D59DD94DE1}"/>
              </a:ext>
            </a:extLst>
          </p:cNvPr>
          <p:cNvSpPr txBox="1"/>
          <p:nvPr/>
        </p:nvSpPr>
        <p:spPr>
          <a:xfrm>
            <a:off x="5808729" y="7283745"/>
            <a:ext cx="3277436" cy="523220"/>
          </a:xfrm>
          <a:prstGeom prst="rect">
            <a:avLst/>
          </a:prstGeom>
          <a:noFill/>
        </p:spPr>
        <p:txBody>
          <a:bodyPr wrap="none" rtlCol="0">
            <a:spAutoFit/>
          </a:bodyPr>
          <a:lstStyle/>
          <a:p>
            <a:r>
              <a:rPr lang="en-IN" sz="2800" b="1" dirty="0"/>
              <a:t>Data Flow Diagram 0</a:t>
            </a:r>
          </a:p>
        </p:txBody>
      </p:sp>
      <p:pic>
        <p:nvPicPr>
          <p:cNvPr id="7" name="Picture 6">
            <a:extLst>
              <a:ext uri="{FF2B5EF4-FFF2-40B4-BE49-F238E27FC236}">
                <a16:creationId xmlns:a16="http://schemas.microsoft.com/office/drawing/2014/main" id="{EA9BBC63-756E-3B87-AFE4-1D4AC2B93D96}"/>
              </a:ext>
            </a:extLst>
          </p:cNvPr>
          <p:cNvPicPr>
            <a:picLocks noChangeAspect="1"/>
          </p:cNvPicPr>
          <p:nvPr/>
        </p:nvPicPr>
        <p:blipFill>
          <a:blip r:embed="rId3"/>
          <a:stretch>
            <a:fillRect/>
          </a:stretch>
        </p:blipFill>
        <p:spPr>
          <a:xfrm>
            <a:off x="2438400" y="1628775"/>
            <a:ext cx="9753600" cy="49720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66B7-1D0F-7AD3-D4EE-C6004D059B7D}"/>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8DFA4C3F-3B7D-E06D-27FF-77E933C1D658}"/>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69A65D47-E6AF-93FB-2E20-344F842AF2ED}"/>
              </a:ext>
            </a:extLst>
          </p:cNvPr>
          <p:cNvSpPr txBox="1"/>
          <p:nvPr/>
        </p:nvSpPr>
        <p:spPr>
          <a:xfrm>
            <a:off x="5676482" y="6806107"/>
            <a:ext cx="3277436" cy="523220"/>
          </a:xfrm>
          <a:prstGeom prst="rect">
            <a:avLst/>
          </a:prstGeom>
          <a:noFill/>
        </p:spPr>
        <p:txBody>
          <a:bodyPr wrap="none" rtlCol="0">
            <a:spAutoFit/>
          </a:bodyPr>
          <a:lstStyle/>
          <a:p>
            <a:r>
              <a:rPr lang="en-IN" sz="2800" b="1" dirty="0"/>
              <a:t>Data Flow Diagram 1</a:t>
            </a:r>
          </a:p>
        </p:txBody>
      </p:sp>
      <p:pic>
        <p:nvPicPr>
          <p:cNvPr id="3" name="Picture 2">
            <a:extLst>
              <a:ext uri="{FF2B5EF4-FFF2-40B4-BE49-F238E27FC236}">
                <a16:creationId xmlns:a16="http://schemas.microsoft.com/office/drawing/2014/main" id="{20EA0BBB-D8F9-694E-FC94-7134E85902CC}"/>
              </a:ext>
            </a:extLst>
          </p:cNvPr>
          <p:cNvPicPr>
            <a:picLocks noChangeAspect="1"/>
          </p:cNvPicPr>
          <p:nvPr/>
        </p:nvPicPr>
        <p:blipFill>
          <a:blip r:embed="rId3"/>
          <a:stretch>
            <a:fillRect/>
          </a:stretch>
        </p:blipFill>
        <p:spPr>
          <a:xfrm>
            <a:off x="2337955" y="899840"/>
            <a:ext cx="8915400" cy="5591175"/>
          </a:xfrm>
          <a:prstGeom prst="rect">
            <a:avLst/>
          </a:prstGeom>
        </p:spPr>
      </p:pic>
    </p:spTree>
    <p:extLst>
      <p:ext uri="{BB962C8B-B14F-4D97-AF65-F5344CB8AC3E}">
        <p14:creationId xmlns:p14="http://schemas.microsoft.com/office/powerpoint/2010/main" val="273923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00F0-F140-6176-CEFF-495F965098D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2F9865BB-F057-D82C-E393-2DB6FCDA6302}"/>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67CB8E75-C0DC-9573-B5DD-43B312A5100E}"/>
              </a:ext>
            </a:extLst>
          </p:cNvPr>
          <p:cNvSpPr txBox="1"/>
          <p:nvPr/>
        </p:nvSpPr>
        <p:spPr>
          <a:xfrm>
            <a:off x="5776952" y="6879953"/>
            <a:ext cx="2660857" cy="523220"/>
          </a:xfrm>
          <a:prstGeom prst="rect">
            <a:avLst/>
          </a:prstGeom>
          <a:noFill/>
        </p:spPr>
        <p:txBody>
          <a:bodyPr wrap="none" rtlCol="0">
            <a:spAutoFit/>
          </a:bodyPr>
          <a:lstStyle/>
          <a:p>
            <a:r>
              <a:rPr lang="en-IN" sz="2800" b="1" dirty="0"/>
              <a:t>Database Design</a:t>
            </a:r>
          </a:p>
        </p:txBody>
      </p:sp>
      <p:pic>
        <p:nvPicPr>
          <p:cNvPr id="3" name="Picture 2">
            <a:extLst>
              <a:ext uri="{FF2B5EF4-FFF2-40B4-BE49-F238E27FC236}">
                <a16:creationId xmlns:a16="http://schemas.microsoft.com/office/drawing/2014/main" id="{F91F56CB-D7A9-EADD-D1D9-7F96C4C811B9}"/>
              </a:ext>
            </a:extLst>
          </p:cNvPr>
          <p:cNvPicPr>
            <a:picLocks noChangeAspect="1"/>
          </p:cNvPicPr>
          <p:nvPr/>
        </p:nvPicPr>
        <p:blipFill>
          <a:blip r:embed="rId3"/>
          <a:stretch>
            <a:fillRect/>
          </a:stretch>
        </p:blipFill>
        <p:spPr>
          <a:xfrm>
            <a:off x="1059873" y="480142"/>
            <a:ext cx="5947241" cy="6211604"/>
          </a:xfrm>
          <a:prstGeom prst="rect">
            <a:avLst/>
          </a:prstGeom>
        </p:spPr>
      </p:pic>
      <p:pic>
        <p:nvPicPr>
          <p:cNvPr id="5" name="Picture 4">
            <a:extLst>
              <a:ext uri="{FF2B5EF4-FFF2-40B4-BE49-F238E27FC236}">
                <a16:creationId xmlns:a16="http://schemas.microsoft.com/office/drawing/2014/main" id="{518BFD55-09F2-E649-A938-0D7894955FF2}"/>
              </a:ext>
            </a:extLst>
          </p:cNvPr>
          <p:cNvPicPr>
            <a:picLocks noChangeAspect="1"/>
          </p:cNvPicPr>
          <p:nvPr/>
        </p:nvPicPr>
        <p:blipFill>
          <a:blip r:embed="rId4"/>
          <a:stretch>
            <a:fillRect/>
          </a:stretch>
        </p:blipFill>
        <p:spPr>
          <a:xfrm>
            <a:off x="7226444" y="480141"/>
            <a:ext cx="6162675" cy="6211604"/>
          </a:xfrm>
          <a:prstGeom prst="rect">
            <a:avLst/>
          </a:prstGeom>
        </p:spPr>
      </p:pic>
    </p:spTree>
    <p:extLst>
      <p:ext uri="{BB962C8B-B14F-4D97-AF65-F5344CB8AC3E}">
        <p14:creationId xmlns:p14="http://schemas.microsoft.com/office/powerpoint/2010/main" val="3246901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2828" y="706398"/>
            <a:ext cx="5422702" cy="645438"/>
          </a:xfrm>
          <a:prstGeom prst="rect">
            <a:avLst/>
          </a:prstGeom>
          <a:noFill/>
          <a:ln/>
        </p:spPr>
        <p:txBody>
          <a:bodyPr wrap="none" lIns="0" tIns="0" rIns="0" bIns="0" rtlCol="0" anchor="t"/>
          <a:lstStyle/>
          <a:p>
            <a:pPr marL="0" indent="0" algn="l">
              <a:lnSpc>
                <a:spcPts val="5050"/>
              </a:lnSpc>
              <a:buNone/>
            </a:pPr>
            <a:r>
              <a:rPr lang="en-US" sz="4050" dirty="0">
                <a:solidFill>
                  <a:srgbClr val="3257B8"/>
                </a:solidFill>
                <a:latin typeface="Roboto Slab" pitchFamily="34" charset="0"/>
                <a:ea typeface="Roboto Slab" pitchFamily="34" charset="-122"/>
                <a:cs typeface="Roboto Slab" pitchFamily="34" charset="-120"/>
              </a:rPr>
              <a:t>Future Enhancements</a:t>
            </a:r>
            <a:endParaRPr lang="en-US" sz="4050" dirty="0"/>
          </a:p>
        </p:txBody>
      </p:sp>
      <p:sp>
        <p:nvSpPr>
          <p:cNvPr id="3" name="Text 1"/>
          <p:cNvSpPr/>
          <p:nvPr/>
        </p:nvSpPr>
        <p:spPr>
          <a:xfrm>
            <a:off x="722828" y="1727954"/>
            <a:ext cx="13184743" cy="631269"/>
          </a:xfrm>
          <a:prstGeom prst="rect">
            <a:avLst/>
          </a:prstGeom>
          <a:noFill/>
          <a:ln/>
        </p:spPr>
        <p:txBody>
          <a:bodyPr wrap="square" lIns="0" tIns="0" rIns="0" bIns="0" rtlCol="0" anchor="t"/>
          <a:lstStyle/>
          <a:p>
            <a:pPr marL="0" indent="0" algn="l">
              <a:lnSpc>
                <a:spcPts val="2450"/>
              </a:lnSpc>
              <a:buNone/>
            </a:pPr>
            <a:endParaRPr lang="en-US" sz="1600" dirty="0"/>
          </a:p>
        </p:txBody>
      </p:sp>
      <p:sp>
        <p:nvSpPr>
          <p:cNvPr id="4" name="Shape 2"/>
          <p:cNvSpPr/>
          <p:nvPr/>
        </p:nvSpPr>
        <p:spPr>
          <a:xfrm>
            <a:off x="722828" y="2570798"/>
            <a:ext cx="6498312" cy="1525429"/>
          </a:xfrm>
          <a:prstGeom prst="roundRect">
            <a:avLst>
              <a:gd name="adj" fmla="val 2031"/>
            </a:avLst>
          </a:prstGeom>
          <a:solidFill>
            <a:srgbClr val="FBFCFE"/>
          </a:solidFill>
          <a:ln w="22860">
            <a:solidFill>
              <a:srgbClr val="CFD2D8"/>
            </a:solidFill>
            <a:prstDash val="solid"/>
          </a:ln>
        </p:spPr>
      </p:sp>
      <p:sp>
        <p:nvSpPr>
          <p:cNvPr id="5" name="Text 3"/>
          <p:cNvSpPr/>
          <p:nvPr/>
        </p:nvSpPr>
        <p:spPr>
          <a:xfrm>
            <a:off x="989886" y="2780467"/>
            <a:ext cx="3409712" cy="342423"/>
          </a:xfrm>
          <a:prstGeom prst="rect">
            <a:avLst/>
          </a:prstGeom>
          <a:noFill/>
          <a:ln/>
        </p:spPr>
        <p:txBody>
          <a:bodyPr wrap="none" lIns="0" tIns="0" rIns="0" bIns="0" rtlCol="0" anchor="t"/>
          <a:lstStyle/>
          <a:p>
            <a:pPr>
              <a:lnSpc>
                <a:spcPts val="2500"/>
              </a:lnSpc>
            </a:pPr>
            <a:r>
              <a:rPr lang="en-IN" sz="2400" dirty="0"/>
              <a:t>AI-Based Image Analysis</a:t>
            </a:r>
            <a:endParaRPr lang="en-US" sz="2400" dirty="0"/>
          </a:p>
        </p:txBody>
      </p:sp>
      <p:sp>
        <p:nvSpPr>
          <p:cNvPr id="6" name="Text 4"/>
          <p:cNvSpPr/>
          <p:nvPr/>
        </p:nvSpPr>
        <p:spPr>
          <a:xfrm>
            <a:off x="952143" y="3078545"/>
            <a:ext cx="5625302" cy="898445"/>
          </a:xfrm>
          <a:prstGeom prst="rect">
            <a:avLst/>
          </a:prstGeom>
          <a:noFill/>
          <a:ln/>
        </p:spPr>
        <p:txBody>
          <a:bodyPr wrap="square" lIns="0" tIns="0" rIns="0" bIns="0" rtlCol="0" anchor="t"/>
          <a:lstStyle/>
          <a:p>
            <a:pPr algn="just">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Use machine learning to automatically detect pollution types or marine species from uploaded images.</a:t>
            </a:r>
          </a:p>
        </p:txBody>
      </p:sp>
      <p:sp>
        <p:nvSpPr>
          <p:cNvPr id="7" name="Shape 5"/>
          <p:cNvSpPr/>
          <p:nvPr/>
        </p:nvSpPr>
        <p:spPr>
          <a:xfrm>
            <a:off x="7409139" y="2559010"/>
            <a:ext cx="6498431" cy="1525429"/>
          </a:xfrm>
          <a:prstGeom prst="roundRect">
            <a:avLst>
              <a:gd name="adj" fmla="val 2031"/>
            </a:avLst>
          </a:prstGeom>
          <a:solidFill>
            <a:srgbClr val="FBFCFE"/>
          </a:solidFill>
          <a:ln w="22860">
            <a:solidFill>
              <a:srgbClr val="CFD2D8"/>
            </a:solidFill>
            <a:prstDash val="solid"/>
          </a:ln>
        </p:spPr>
      </p:sp>
      <p:sp>
        <p:nvSpPr>
          <p:cNvPr id="8" name="Text 6"/>
          <p:cNvSpPr/>
          <p:nvPr/>
        </p:nvSpPr>
        <p:spPr>
          <a:xfrm>
            <a:off x="7638455" y="2800112"/>
            <a:ext cx="3221831" cy="322778"/>
          </a:xfrm>
          <a:prstGeom prst="rect">
            <a:avLst/>
          </a:prstGeom>
          <a:noFill/>
          <a:ln/>
        </p:spPr>
        <p:txBody>
          <a:bodyPr wrap="none" lIns="0" tIns="0" rIns="0" bIns="0" rtlCol="0" anchor="t"/>
          <a:lstStyle/>
          <a:p>
            <a:pPr>
              <a:lnSpc>
                <a:spcPts val="2500"/>
              </a:lnSpc>
            </a:pPr>
            <a:r>
              <a:rPr lang="en-US" sz="2000" dirty="0"/>
              <a:t>Gove</a:t>
            </a:r>
            <a:r>
              <a:rPr lang="en-US" sz="2400" dirty="0"/>
              <a:t>rnment Data Integration</a:t>
            </a:r>
          </a:p>
        </p:txBody>
      </p:sp>
      <p:sp>
        <p:nvSpPr>
          <p:cNvPr id="9" name="Text 7"/>
          <p:cNvSpPr/>
          <p:nvPr/>
        </p:nvSpPr>
        <p:spPr>
          <a:xfrm>
            <a:off x="7638455" y="3235643"/>
            <a:ext cx="603980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Connect with marine protection agencies for faster action</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0" name="Shape 8"/>
          <p:cNvSpPr/>
          <p:nvPr/>
        </p:nvSpPr>
        <p:spPr>
          <a:xfrm>
            <a:off x="722828" y="4284226"/>
            <a:ext cx="6498312" cy="1525429"/>
          </a:xfrm>
          <a:prstGeom prst="roundRect">
            <a:avLst>
              <a:gd name="adj" fmla="val 2031"/>
            </a:avLst>
          </a:prstGeom>
          <a:solidFill>
            <a:srgbClr val="FBFCFE"/>
          </a:solidFill>
          <a:ln w="22860">
            <a:solidFill>
              <a:srgbClr val="CFD2D8"/>
            </a:solidFill>
            <a:prstDash val="solid"/>
          </a:ln>
        </p:spPr>
      </p:sp>
      <p:sp>
        <p:nvSpPr>
          <p:cNvPr id="11" name="Text 9"/>
          <p:cNvSpPr/>
          <p:nvPr/>
        </p:nvSpPr>
        <p:spPr>
          <a:xfrm>
            <a:off x="952143" y="4513540"/>
            <a:ext cx="3447455" cy="322778"/>
          </a:xfrm>
          <a:prstGeom prst="rect">
            <a:avLst/>
          </a:prstGeom>
          <a:noFill/>
          <a:ln/>
        </p:spPr>
        <p:txBody>
          <a:bodyPr wrap="none" lIns="0" tIns="0" rIns="0" bIns="0" rtlCol="0" anchor="t"/>
          <a:lstStyle/>
          <a:p>
            <a:pPr>
              <a:lnSpc>
                <a:spcPts val="2500"/>
              </a:lnSpc>
            </a:pPr>
            <a:r>
              <a:rPr lang="en-IN" sz="2400" dirty="0"/>
              <a:t>Mobile Application Development</a:t>
            </a:r>
            <a:endParaRPr lang="en-US" sz="2400" dirty="0"/>
          </a:p>
        </p:txBody>
      </p:sp>
      <p:sp>
        <p:nvSpPr>
          <p:cNvPr id="12" name="Text 10"/>
          <p:cNvSpPr/>
          <p:nvPr/>
        </p:nvSpPr>
        <p:spPr>
          <a:xfrm>
            <a:off x="952143" y="4949071"/>
            <a:ext cx="603968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Develop Android/iOS apps to allow easier and faster reporting from coastal areas.</a:t>
            </a:r>
          </a:p>
        </p:txBody>
      </p:sp>
      <p:sp>
        <p:nvSpPr>
          <p:cNvPr id="13" name="Shape 11"/>
          <p:cNvSpPr/>
          <p:nvPr/>
        </p:nvSpPr>
        <p:spPr>
          <a:xfrm>
            <a:off x="7409140" y="4284226"/>
            <a:ext cx="6498431" cy="1525429"/>
          </a:xfrm>
          <a:prstGeom prst="roundRect">
            <a:avLst>
              <a:gd name="adj" fmla="val 2031"/>
            </a:avLst>
          </a:prstGeom>
          <a:solidFill>
            <a:srgbClr val="FBFCFE"/>
          </a:solidFill>
          <a:ln w="22860">
            <a:solidFill>
              <a:srgbClr val="CFD2D8"/>
            </a:solidFill>
            <a:prstDash val="solid"/>
          </a:ln>
        </p:spPr>
      </p:sp>
      <p:sp>
        <p:nvSpPr>
          <p:cNvPr id="14" name="Text 12"/>
          <p:cNvSpPr/>
          <p:nvPr/>
        </p:nvSpPr>
        <p:spPr>
          <a:xfrm>
            <a:off x="7638454" y="4513540"/>
            <a:ext cx="3221831" cy="307894"/>
          </a:xfrm>
          <a:prstGeom prst="rect">
            <a:avLst/>
          </a:prstGeom>
          <a:noFill/>
          <a:ln/>
        </p:spPr>
        <p:txBody>
          <a:bodyPr wrap="none" lIns="0" tIns="0" rIns="0" bIns="0" rtlCol="0" anchor="t"/>
          <a:lstStyle/>
          <a:p>
            <a:pPr>
              <a:lnSpc>
                <a:spcPts val="2500"/>
              </a:lnSpc>
            </a:pPr>
            <a:r>
              <a:rPr lang="en-US" sz="2400" dirty="0">
                <a:ea typeface="Roboto" panose="02000000000000000000" pitchFamily="2" charset="0"/>
                <a:cs typeface="Roboto" panose="02000000000000000000" pitchFamily="2" charset="0"/>
              </a:rPr>
              <a:t>Enhanced Security</a:t>
            </a:r>
          </a:p>
        </p:txBody>
      </p:sp>
      <p:sp>
        <p:nvSpPr>
          <p:cNvPr id="15" name="Text 13"/>
          <p:cNvSpPr/>
          <p:nvPr/>
        </p:nvSpPr>
        <p:spPr>
          <a:xfrm>
            <a:off x="7638455" y="4821434"/>
            <a:ext cx="6039802" cy="988221"/>
          </a:xfrm>
          <a:prstGeom prst="rect">
            <a:avLst/>
          </a:prstGeom>
          <a:noFill/>
          <a:ln/>
        </p:spPr>
        <p:txBody>
          <a:bodyPr wrap="non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Add multi-factor authentication and stronger data protection </a:t>
            </a:r>
          </a:p>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mechanisms</a:t>
            </a:r>
          </a:p>
        </p:txBody>
      </p:sp>
      <p:sp>
        <p:nvSpPr>
          <p:cNvPr id="16" name="Shape 14"/>
          <p:cNvSpPr/>
          <p:nvPr/>
        </p:nvSpPr>
        <p:spPr>
          <a:xfrm>
            <a:off x="722828" y="5997654"/>
            <a:ext cx="6498312" cy="1525429"/>
          </a:xfrm>
          <a:prstGeom prst="roundRect">
            <a:avLst>
              <a:gd name="adj" fmla="val 2031"/>
            </a:avLst>
          </a:prstGeom>
          <a:solidFill>
            <a:srgbClr val="FBFCFE"/>
          </a:solidFill>
          <a:ln w="22860">
            <a:solidFill>
              <a:srgbClr val="CFD2D8"/>
            </a:solidFill>
            <a:prstDash val="solid"/>
          </a:ln>
        </p:spPr>
      </p:sp>
      <p:sp>
        <p:nvSpPr>
          <p:cNvPr id="17" name="Text 15"/>
          <p:cNvSpPr/>
          <p:nvPr/>
        </p:nvSpPr>
        <p:spPr>
          <a:xfrm>
            <a:off x="952143" y="6226969"/>
            <a:ext cx="4014712" cy="322778"/>
          </a:xfrm>
          <a:prstGeom prst="rect">
            <a:avLst/>
          </a:prstGeom>
          <a:noFill/>
          <a:ln/>
        </p:spPr>
        <p:txBody>
          <a:bodyPr wrap="none" lIns="0" tIns="0" rIns="0" bIns="0" rtlCol="0" anchor="t"/>
          <a:lstStyle/>
          <a:p>
            <a:pPr>
              <a:lnSpc>
                <a:spcPts val="2500"/>
              </a:lnSpc>
            </a:pPr>
            <a:r>
              <a:rPr lang="en-US" sz="2400" dirty="0"/>
              <a:t>Satellite &amp; IoT Integration</a:t>
            </a:r>
          </a:p>
        </p:txBody>
      </p:sp>
      <p:sp>
        <p:nvSpPr>
          <p:cNvPr id="18" name="Text 16"/>
          <p:cNvSpPr/>
          <p:nvPr/>
        </p:nvSpPr>
        <p:spPr>
          <a:xfrm>
            <a:off x="952143" y="6662499"/>
            <a:ext cx="603968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Integrate environmental sensors and satellite data for better monitoring</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19" name="Shape 17"/>
          <p:cNvSpPr/>
          <p:nvPr/>
        </p:nvSpPr>
        <p:spPr>
          <a:xfrm>
            <a:off x="7409140" y="5997654"/>
            <a:ext cx="6498431" cy="1525429"/>
          </a:xfrm>
          <a:prstGeom prst="roundRect">
            <a:avLst>
              <a:gd name="adj" fmla="val 2031"/>
            </a:avLst>
          </a:prstGeom>
          <a:solidFill>
            <a:srgbClr val="FBFCFE"/>
          </a:solidFill>
          <a:ln w="22860">
            <a:solidFill>
              <a:srgbClr val="CFD2D8"/>
            </a:solidFill>
            <a:prstDash val="solid"/>
          </a:ln>
        </p:spPr>
      </p:sp>
      <p:sp>
        <p:nvSpPr>
          <p:cNvPr id="20" name="Text 18"/>
          <p:cNvSpPr/>
          <p:nvPr/>
        </p:nvSpPr>
        <p:spPr>
          <a:xfrm>
            <a:off x="7638454" y="6226969"/>
            <a:ext cx="3334345" cy="274677"/>
          </a:xfrm>
          <a:prstGeom prst="rect">
            <a:avLst/>
          </a:prstGeom>
          <a:noFill/>
          <a:ln/>
        </p:spPr>
        <p:txBody>
          <a:bodyPr wrap="none" lIns="0" tIns="0" rIns="0" bIns="0" rtlCol="0" anchor="t"/>
          <a:lstStyle/>
          <a:p>
            <a:pPr>
              <a:lnSpc>
                <a:spcPts val="2500"/>
              </a:lnSpc>
            </a:pPr>
            <a:r>
              <a:rPr lang="en-US" sz="2000" dirty="0">
                <a:latin typeface="Roboto" panose="02000000000000000000" pitchFamily="2" charset="0"/>
                <a:ea typeface="Roboto" panose="02000000000000000000" pitchFamily="2" charset="0"/>
                <a:cs typeface="Roboto" panose="02000000000000000000" pitchFamily="2" charset="0"/>
              </a:rPr>
              <a:t>Advanced Data Analytics</a:t>
            </a:r>
          </a:p>
        </p:txBody>
      </p:sp>
      <p:sp>
        <p:nvSpPr>
          <p:cNvPr id="21" name="Text 19"/>
          <p:cNvSpPr/>
          <p:nvPr/>
        </p:nvSpPr>
        <p:spPr>
          <a:xfrm>
            <a:off x="7638455" y="6662499"/>
            <a:ext cx="6039803" cy="744020"/>
          </a:xfrm>
          <a:prstGeom prst="rect">
            <a:avLst/>
          </a:prstGeom>
          <a:noFill/>
          <a:ln/>
        </p:spPr>
        <p:txBody>
          <a:bodyPr wrap="non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Identify pollution trends and predict high-risk coastal areas</a:t>
            </a:r>
            <a:r>
              <a:rPr lang="en-US" sz="1600" dirty="0"/>
              <a:t>.</a:t>
            </a:r>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C01D2D68-8D3E-7346-AA87-1785F9CD718E}"/>
              </a:ext>
            </a:extLst>
          </p:cNvPr>
          <p:cNvSpPr/>
          <p:nvPr/>
        </p:nvSpPr>
        <p:spPr>
          <a:xfrm>
            <a:off x="12656128" y="7635834"/>
            <a:ext cx="1891145" cy="521029"/>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05746" y="513755"/>
            <a:ext cx="4427101" cy="553283"/>
          </a:xfrm>
          <a:prstGeom prst="rect">
            <a:avLst/>
          </a:prstGeom>
          <a:noFill/>
          <a:ln/>
        </p:spPr>
        <p:txBody>
          <a:bodyPr wrap="none" lIns="0" tIns="0" rIns="0" bIns="0" rtlCol="0" anchor="t"/>
          <a:lstStyle/>
          <a:p>
            <a:pPr marL="0" indent="0" algn="l">
              <a:lnSpc>
                <a:spcPts val="4350"/>
              </a:lnSpc>
              <a:buNone/>
            </a:pPr>
            <a:r>
              <a:rPr lang="en-US" sz="3450" dirty="0">
                <a:solidFill>
                  <a:srgbClr val="3257B8"/>
                </a:solidFill>
                <a:latin typeface="Roboto Slab" pitchFamily="34" charset="0"/>
                <a:ea typeface="Roboto Slab" pitchFamily="34" charset="-122"/>
                <a:cs typeface="Roboto Slab" pitchFamily="34" charset="-120"/>
              </a:rPr>
              <a:t>Conclusion</a:t>
            </a:r>
            <a:endParaRPr lang="en-US" sz="3450" dirty="0"/>
          </a:p>
        </p:txBody>
      </p:sp>
      <p:sp>
        <p:nvSpPr>
          <p:cNvPr id="13" name="Rectangle 12">
            <a:extLst>
              <a:ext uri="{FF2B5EF4-FFF2-40B4-BE49-F238E27FC236}">
                <a16:creationId xmlns:a16="http://schemas.microsoft.com/office/drawing/2014/main" id="{73295D25-E1EE-FA4D-6B4C-F1950A1C0614}"/>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F0A63BD-C3E9-2647-A13E-BE1ABF533FBA}"/>
              </a:ext>
            </a:extLst>
          </p:cNvPr>
          <p:cNvSpPr txBox="1"/>
          <p:nvPr/>
        </p:nvSpPr>
        <p:spPr>
          <a:xfrm>
            <a:off x="1205745" y="2036618"/>
            <a:ext cx="12198527" cy="3785652"/>
          </a:xfrm>
          <a:prstGeom prst="rect">
            <a:avLst/>
          </a:prstGeom>
          <a:noFill/>
        </p:spPr>
        <p:txBody>
          <a:bodyPr wrap="square" rtlCol="0">
            <a:spAutoFit/>
          </a:bodyPr>
          <a:lstStyle/>
          <a:p>
            <a:r>
              <a:rPr lang="en-US" sz="2400" dirty="0" err="1">
                <a:latin typeface="Roboto" panose="02000000000000000000" pitchFamily="2" charset="0"/>
                <a:ea typeface="Roboto" panose="02000000000000000000" pitchFamily="2" charset="0"/>
                <a:cs typeface="Roboto" panose="02000000000000000000" pitchFamily="2" charset="0"/>
              </a:rPr>
              <a:t>AquaLife</a:t>
            </a:r>
            <a:r>
              <a:rPr lang="en-US" sz="2400" dirty="0">
                <a:latin typeface="Roboto" panose="02000000000000000000" pitchFamily="2" charset="0"/>
                <a:ea typeface="Roboto" panose="02000000000000000000" pitchFamily="2" charset="0"/>
                <a:cs typeface="Roboto" panose="02000000000000000000" pitchFamily="2" charset="0"/>
              </a:rPr>
              <a:t> Coastal Watch provides a community-driven platform for monitoring coastal pollution and marine wildlife sightings. The system allows citizens to actively participate in environmental protection by reporting pollution incidents and wildlife observations using geo-tagged images and location data.</a:t>
            </a:r>
          </a:p>
          <a:p>
            <a:r>
              <a:rPr lang="en-US" sz="2400" dirty="0">
                <a:latin typeface="Roboto" panose="02000000000000000000" pitchFamily="2" charset="0"/>
                <a:ea typeface="Roboto" panose="02000000000000000000" pitchFamily="2" charset="0"/>
                <a:cs typeface="Roboto" panose="02000000000000000000" pitchFamily="2" charset="0"/>
              </a:rPr>
              <a:t>By combining citizen participation, real-time reporting, moderator validation, and environmental analytics, the platform helps identify pollution hotspots and supports faster action from conservation agencies. This project promotes transparency, environmental awareness, and collaborative efforts in protecting marine ecosystems, while supporting the goals of </a:t>
            </a:r>
            <a:r>
              <a:rPr lang="en-US" sz="2400" b="1" dirty="0">
                <a:latin typeface="Roboto" panose="02000000000000000000" pitchFamily="2" charset="0"/>
                <a:ea typeface="Roboto" panose="02000000000000000000" pitchFamily="2" charset="0"/>
                <a:cs typeface="Roboto" panose="02000000000000000000" pitchFamily="2" charset="0"/>
              </a:rPr>
              <a:t>Sustainable Development Goal (SDG) 14 – Life Below Water</a:t>
            </a:r>
            <a:r>
              <a:rPr lang="en-IN" sz="2400" b="1" dirty="0">
                <a:latin typeface="Roboto" panose="02000000000000000000" pitchFamily="2" charset="0"/>
                <a:ea typeface="Roboto" panose="02000000000000000000" pitchFamily="2" charset="0"/>
                <a:cs typeface="Roboto" panose="02000000000000000000" pitchFamily="2" charset="0"/>
              </a:rPr>
              <a:t>.</a:t>
            </a:r>
            <a:endParaRPr lang="en-US" sz="24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F389-BD49-BF90-6D35-27FAF63544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0D3205-E009-F695-AAD3-464920A1087A}"/>
              </a:ext>
            </a:extLst>
          </p:cNvPr>
          <p:cNvSpPr/>
          <p:nvPr/>
        </p:nvSpPr>
        <p:spPr>
          <a:xfrm>
            <a:off x="5101649" y="3838158"/>
            <a:ext cx="4427101" cy="553283"/>
          </a:xfrm>
          <a:prstGeom prst="rect">
            <a:avLst/>
          </a:prstGeom>
          <a:noFill/>
          <a:ln/>
        </p:spPr>
        <p:txBody>
          <a:bodyPr wrap="none" lIns="0" tIns="0" rIns="0" bIns="0" rtlCol="0" anchor="t"/>
          <a:lstStyle/>
          <a:p>
            <a:pPr marL="0" indent="0" algn="ctr">
              <a:lnSpc>
                <a:spcPts val="4350"/>
              </a:lnSpc>
              <a:buNone/>
            </a:pPr>
            <a:r>
              <a:rPr lang="en-US" sz="9600" dirty="0">
                <a:solidFill>
                  <a:srgbClr val="3257B8"/>
                </a:solidFill>
                <a:latin typeface="Roboto Slab" pitchFamily="34" charset="0"/>
                <a:ea typeface="Roboto Slab" pitchFamily="34" charset="-122"/>
                <a:cs typeface="Roboto Slab" pitchFamily="34" charset="-120"/>
              </a:rPr>
              <a:t>Thank You</a:t>
            </a:r>
            <a:endParaRPr lang="en-US" sz="9600" dirty="0"/>
          </a:p>
        </p:txBody>
      </p:sp>
      <p:sp>
        <p:nvSpPr>
          <p:cNvPr id="13" name="Rectangle 12">
            <a:extLst>
              <a:ext uri="{FF2B5EF4-FFF2-40B4-BE49-F238E27FC236}">
                <a16:creationId xmlns:a16="http://schemas.microsoft.com/office/drawing/2014/main" id="{2493A9ED-679F-2277-2A7C-17BE0F816AEA}"/>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9210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832</Words>
  <Application>Microsoft Office PowerPoint</Application>
  <PresentationFormat>Custom</PresentationFormat>
  <Paragraphs>86</Paragraphs>
  <Slides>14</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Times New Roman</vt:lpstr>
      <vt:lpstr>Calibri</vt:lpstr>
      <vt:lpstr>Arial</vt:lpstr>
      <vt:lpstr>Roboto</vt:lpstr>
      <vt:lpstr>Roboto Slab Light</vt:lpstr>
      <vt:lpstr>Roboto Slab</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Phusam Nawaz Sarif</dc:creator>
  <cp:lastModifiedBy>Phusam Nawaz Sarif</cp:lastModifiedBy>
  <cp:revision>14</cp:revision>
  <dcterms:created xsi:type="dcterms:W3CDTF">2026-03-01T12:39:21Z</dcterms:created>
  <dcterms:modified xsi:type="dcterms:W3CDTF">2026-03-12T18:21:37Z</dcterms:modified>
</cp:coreProperties>
</file>